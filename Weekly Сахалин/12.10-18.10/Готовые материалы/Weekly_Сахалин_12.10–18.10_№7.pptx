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4ba22d354a4476" /><Relationship Type="http://schemas.openxmlformats.org/officeDocument/2006/relationships/extended-properties" Target="/docProps/app.xml" Id="R277c069d06aa4bf5" /><Relationship Type="http://schemas.openxmlformats.org/officeDocument/2006/relationships/officeDocument" Target="/ppt/presentation.xml" Id="R068d7176f2f447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5dec07108745ed"/>
  </p:sldMasterIdLst>
  <p:notesMasterIdLst>
    <p:notesMasterId xmlns:r="http://schemas.openxmlformats.org/officeDocument/2006/relationships" r:id="Rffd4cecd45a04d55"/>
  </p:notesMasterIdLst>
  <p:sldIdLst>
    <p:sldId xmlns:r="http://schemas.openxmlformats.org/officeDocument/2006/relationships" id="256" r:id="Rf3e47cd837ce4ee9"/>
  </p:sldIdLst>
  <p:sldSz cx="10799763" cy="24191913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2579BFC9-DFF7-CB57-E077-6E20FEF20DDB}">
  <a:tblStyle styleId="{2579BFC9-DFF7-CB57-E077-6E20FEF20DDB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ed3c0386824d90" /><Relationship Type="http://schemas.openxmlformats.org/officeDocument/2006/relationships/slideMaster" Target="/ppt/slideMasters/slideMaster1.xml" Id="R745dec07108745ed" /><Relationship Type="http://schemas.openxmlformats.org/officeDocument/2006/relationships/notesMaster" Target="/ppt/notesMasters/notesMaster1.xml" Id="Rffd4cecd45a04d55" /><Relationship Type="http://schemas.openxmlformats.org/officeDocument/2006/relationships/presProps" Target="/ppt/presProps.xml" Id="R8c33ee0fbb6e4e94" /><Relationship Type="http://schemas.openxmlformats.org/officeDocument/2006/relationships/viewProps" Target="/ppt/viewProps.xml" Id="Re397763117de496a" /><Relationship Type="http://schemas.openxmlformats.org/officeDocument/2006/relationships/tableStyles" Target="/ppt/tableStyles.xml" Id="R4931e7814709468e" /><Relationship Type="http://schemas.openxmlformats.org/officeDocument/2006/relationships/slide" Target="/ppt/slides/slide1.xml" Id="Rf3e47cd837ce4e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0a5da5ed84b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Другая 1">
      <a:majorFont>
        <a:latin typeface="Mont Bold"/>
        <a:ea typeface="Arial"/>
        <a:cs typeface="Arial"/>
      </a:majorFont>
      <a:minorFont>
        <a:latin typeface="Mont Regular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d52c5b1c2e4162" /><Relationship Type="http://schemas.openxmlformats.org/officeDocument/2006/relationships/notesMaster" Target="/ppt/notesMasters/notesMaster1.xml" Id="Rf1aac59e77f349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Колонка «Важно!» содержит все восемь объявлений из первой колонки раздела «5 параллель» общешкольного Weekly №7, без сокращения и перефразирования. Служебные колонки с отметкой «Важно» и фамилиями отправителей не включены. Все семь гиперссылок раздела сохранены. Ссылка на День словесности дополнительно предоставлена наставником. Высота листа увеличена, фотографии и нижний блок сдвинуты вниз.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5cccc0a3c4c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24486acfa41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32909a26d42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cf14d10e14d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3b19312d34a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4533743ba4b2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52704c68f461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1ef207949425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4266b6d444f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9c545a91042c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01ec96847497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6e131d25e4936" /><Relationship Type="http://schemas.openxmlformats.org/officeDocument/2006/relationships/image" Target="/ppt/media/image.png" Id="R6d8db6a8baae4bb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3b09b0a144f6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371050ed749e9" /><Relationship Type="http://schemas.openxmlformats.org/officeDocument/2006/relationships/image" Target="/ppt/media/image2.png" Id="R757431fd7a9b4105" /><Relationship Type="http://schemas.openxmlformats.org/officeDocument/2006/relationships/image" Target="/ppt/media/image3.png" Id="R81950f2f9bdf41d7" /></Relationships>
</file>

<file path=ppt/slideLayouts/slideLayout1.xml><?xml version="1.0" encoding="utf-8"?>
<p:sldLayout xmlns:p="http://schemas.openxmlformats.org/presentationml/2006/main" showMasterPhAnim="0" matchingName="" type="title" preserve="1" userDrawn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8EEA67-BCE2-4EAB-A4F7-E8523B8B72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09982" y="2945943"/>
            <a:ext cx="9179799" cy="6266897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71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D4B9FC1-B80E-4838-9D95-815E1870E5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49971" y="9454516"/>
            <a:ext cx="8099822" cy="434599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850"/>
            </a:lvl1pPr>
            <a:lvl2pPr marL="539999" indent="0" algn="ctr">
              <a:buNone/>
              <a:defRPr sz="2350"/>
            </a:lvl2pPr>
            <a:lvl3pPr marL="1079998" indent="0" algn="ctr">
              <a:buNone/>
              <a:defRPr sz="2150"/>
            </a:lvl3pPr>
            <a:lvl4pPr marL="1619997" indent="0" algn="ctr">
              <a:buNone/>
              <a:defRPr sz="1900"/>
            </a:lvl4pPr>
            <a:lvl5pPr marL="2159996" indent="0" algn="ctr">
              <a:buNone/>
              <a:defRPr sz="1900"/>
            </a:lvl5pPr>
            <a:lvl6pPr marL="2699995" indent="0" algn="ctr">
              <a:buNone/>
              <a:defRPr sz="1900"/>
            </a:lvl6pPr>
            <a:lvl7pPr marL="3239994" indent="0" algn="ctr">
              <a:buNone/>
              <a:defRPr sz="1900"/>
            </a:lvl7pPr>
            <a:lvl8pPr marL="3779992" indent="0" algn="ctr">
              <a:buNone/>
              <a:defRPr sz="1900"/>
            </a:lvl8pPr>
            <a:lvl9pPr marL="4319991" indent="0" algn="ctr">
              <a:buNone/>
              <a:defRPr sz="1900"/>
            </a:lvl9pPr>
          </a:lstStyle>
          <a:p xmlns:a="http://schemas.openxmlformats.org/drawingml/2006/main">
            <a:pPr>
              <a:buNone/>
            </a:pPr>
            <a:r>
              <a:t>Образец подзаголовка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22CE4A-9F8C-4081-96F1-0A6DA93D8F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7BC186-94A8-4A5F-91D0-910DB6410D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A5B7D6-92D6-421D-B0AE-E2D706EB42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PhAnim="0" matchingName="" type="obj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383239-8087-47EF-BCF3-E85E88DE45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1D751F-5B27-4F3B-957F-BD4A2B71ED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B41DCF-36F0-4BCD-8349-2452DD838F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2D37B0-2605-43BE-A466-752C1D37F9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A11307-7B03-41BF-95F4-BB5B46177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PhAnim="0" matchingName="" type="secHead" preserve="1" userDrawn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DE6817-DAEF-4428-9316-0922CF085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859" y="4487671"/>
            <a:ext cx="9314796" cy="7487774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71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19D691-0815-434E-9669-287321493B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859" y="12046282"/>
            <a:ext cx="9314796" cy="393764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50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50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50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90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90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90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90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90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9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201B83-CEC4-49EC-B2CD-CDD91D8B15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E4342-F45C-404D-96F5-F203960F1F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4BCE40-9470-464A-87F3-B370700A33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PhAnim="0" matchingName="" type="twoObj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9FE4A7-7F78-434C-9485-B27DEA5C3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6FB692B-1EA4-4DA7-A01D-EE215F14A7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42484" y="4791843"/>
            <a:ext cx="4589899" cy="114212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1049709-8C83-4A58-B187-D35D2F91155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467380" y="4791843"/>
            <a:ext cx="4589899" cy="114212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89CA90-5536-4CC0-B187-83AB97BB89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B88AFB6-A19D-43FE-9EA3-AA70572C55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E68ED3-C74C-426E-8742-E850F763CD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PhAnim="0" matchingName="" type="twoTxTwoObj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EF5479-38E8-47FC-B372-645E2764E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3890" y="958373"/>
            <a:ext cx="9314796" cy="34792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21EF05-1EEA-4493-AA04-FB2A966493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3892" y="4412664"/>
            <a:ext cx="4568805" cy="216257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850" b="1"/>
            </a:lvl1pPr>
            <a:lvl2pPr marL="539999" indent="0">
              <a:buNone/>
              <a:defRPr sz="2350" b="1"/>
            </a:lvl2pPr>
            <a:lvl3pPr marL="1079998" indent="0">
              <a:buNone/>
              <a:defRPr sz="2150" b="1"/>
            </a:lvl3pPr>
            <a:lvl4pPr marL="1619997" indent="0">
              <a:buNone/>
              <a:defRPr sz="1900" b="1"/>
            </a:lvl4pPr>
            <a:lvl5pPr marL="2159996" indent="0">
              <a:buNone/>
              <a:defRPr sz="1900" b="1"/>
            </a:lvl5pPr>
            <a:lvl6pPr marL="2699995" indent="0">
              <a:buNone/>
              <a:defRPr sz="1900" b="1"/>
            </a:lvl6pPr>
            <a:lvl7pPr marL="3239994" indent="0">
              <a:buNone/>
              <a:defRPr sz="1900" b="1"/>
            </a:lvl7pPr>
            <a:lvl8pPr marL="3779992" indent="0">
              <a:buNone/>
              <a:defRPr sz="1900" b="1"/>
            </a:lvl8pPr>
            <a:lvl9pPr marL="4319991" indent="0">
              <a:buNone/>
              <a:defRPr sz="19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C31631-65B8-43EA-996E-36EBF9BF3C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43892" y="6575242"/>
            <a:ext cx="4568805" cy="96711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DDE3077-EC92-486A-B860-01C3022141D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467381" y="4412664"/>
            <a:ext cx="4591306" cy="216257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850" b="1"/>
            </a:lvl1pPr>
            <a:lvl2pPr marL="539999" indent="0">
              <a:buNone/>
              <a:defRPr sz="2350" b="1"/>
            </a:lvl2pPr>
            <a:lvl3pPr marL="1079998" indent="0">
              <a:buNone/>
              <a:defRPr sz="2150" b="1"/>
            </a:lvl3pPr>
            <a:lvl4pPr marL="1619997" indent="0">
              <a:buNone/>
              <a:defRPr sz="1900" b="1"/>
            </a:lvl4pPr>
            <a:lvl5pPr marL="2159996" indent="0">
              <a:buNone/>
              <a:defRPr sz="1900" b="1"/>
            </a:lvl5pPr>
            <a:lvl6pPr marL="2699995" indent="0">
              <a:buNone/>
              <a:defRPr sz="1900" b="1"/>
            </a:lvl6pPr>
            <a:lvl7pPr marL="3239994" indent="0">
              <a:buNone/>
              <a:defRPr sz="1900" b="1"/>
            </a:lvl7pPr>
            <a:lvl8pPr marL="3779992" indent="0">
              <a:buNone/>
              <a:defRPr sz="1900" b="1"/>
            </a:lvl8pPr>
            <a:lvl9pPr marL="4319991" indent="0">
              <a:buNone/>
              <a:defRPr sz="19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93AE6E6-5490-45AE-BE5D-DE2DF55F4D8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467381" y="6575242"/>
            <a:ext cx="4591306" cy="96711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73CED8B-A1EB-4B88-A8DA-CDD02B5244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90BC964-51CB-4415-8EDE-EFF0DAE212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C20B92D-3380-48EC-B62D-366B653BC7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PhAnim="0" matchingName="" type="titleOnly" preserve="1" userDrawn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1E4F2C-F95F-4443-B58F-2DF071C8E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0464107-EEB3-4A90-B000-07F0EDCC02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0A48D5D-F4D7-47FF-B5F8-72275B2DA4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08A7A88-75E5-4C1B-97BE-D04013D1CC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PhAnim="0" matchingName="" type="blank" preserve="1" userDrawn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CB742E7-C225-4347-8B70-F41E55A732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D71DA1-8B8C-4AF6-ABC6-5726AD87D7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A44E640-15E3-4231-83D9-A02C12CDE3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PhAnim="0" matchingName="" type="objTx" preserve="1" userDrawn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832F1B-05CF-4712-8F27-44660E203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3890" y="1200044"/>
            <a:ext cx="3483205" cy="420015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8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BB35D2-09B8-493B-8A8C-B75B2780B1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91306" y="2591766"/>
            <a:ext cx="5467380" cy="127921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800"/>
            </a:lvl1pPr>
            <a:lvl2pPr>
              <a:buNone/>
              <a:defRPr sz="3300"/>
            </a:lvl2pPr>
            <a:lvl3pPr>
              <a:buNone/>
              <a:defRPr sz="2850"/>
            </a:lvl3pPr>
            <a:lvl4pPr>
              <a:buNone/>
              <a:defRPr sz="2350"/>
            </a:lvl4pPr>
            <a:lvl5pPr>
              <a:buNone/>
              <a:defRPr sz="2350"/>
            </a:lvl5pPr>
            <a:lvl6pPr>
              <a:buNone/>
              <a:defRPr sz="2350"/>
            </a:lvl6pPr>
            <a:lvl7pPr>
              <a:buNone/>
              <a:defRPr sz="2350"/>
            </a:lvl7pPr>
            <a:lvl8pPr>
              <a:buNone/>
              <a:defRPr sz="2350"/>
            </a:lvl8pPr>
            <a:lvl9pPr>
              <a:buNone/>
              <a:defRPr sz="23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3AB13F7-3429-4081-8768-A5CCE0D397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43890" y="5400199"/>
            <a:ext cx="3483205" cy="1000453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900"/>
            </a:lvl1pPr>
            <a:lvl2pPr marL="539999" indent="0">
              <a:buNone/>
              <a:defRPr sz="1650"/>
            </a:lvl2pPr>
            <a:lvl3pPr marL="1079998" indent="0">
              <a:buNone/>
              <a:defRPr sz="1400"/>
            </a:lvl3pPr>
            <a:lvl4pPr marL="1619997" indent="0">
              <a:buNone/>
              <a:defRPr sz="1200"/>
            </a:lvl4pPr>
            <a:lvl5pPr marL="2159996" indent="0">
              <a:buNone/>
              <a:defRPr sz="1200"/>
            </a:lvl5pPr>
            <a:lvl6pPr marL="2699995" indent="0">
              <a:buNone/>
              <a:defRPr sz="1200"/>
            </a:lvl6pPr>
            <a:lvl7pPr marL="3239994" indent="0">
              <a:buNone/>
              <a:defRPr sz="1200"/>
            </a:lvl7pPr>
            <a:lvl8pPr marL="3779992" indent="0">
              <a:buNone/>
              <a:defRPr sz="1200"/>
            </a:lvl8pPr>
            <a:lvl9pPr marL="4319991" indent="0"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51DF29-E237-434E-BEC5-7D0DBD8AB1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A183331-32A7-4DD8-A778-8961694E60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3EC43C-D241-4FB0-A4C6-CCA9D474D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PhAnim="0" matchingName="" type="picTx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0489C0-CC26-45BD-BAB0-E9B32B85B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3890" y="1200044"/>
            <a:ext cx="3483205" cy="420015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8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218FE92-977E-4F30-BD35-F14FEBE5A35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591306" y="2591766"/>
            <a:ext cx="5467380" cy="12792138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800"/>
            </a:lvl1pPr>
            <a:lvl2pPr marL="539999" indent="0">
              <a:buNone/>
              <a:defRPr sz="3300"/>
            </a:lvl2pPr>
            <a:lvl3pPr marL="1079998" indent="0">
              <a:buNone/>
              <a:defRPr sz="2850"/>
            </a:lvl3pPr>
            <a:lvl4pPr marL="1619997" indent="0">
              <a:buNone/>
              <a:defRPr sz="2350"/>
            </a:lvl4pPr>
            <a:lvl5pPr marL="2159996" indent="0">
              <a:buNone/>
              <a:defRPr sz="2350"/>
            </a:lvl5pPr>
            <a:lvl6pPr marL="2699995" indent="0">
              <a:buNone/>
              <a:defRPr sz="2350"/>
            </a:lvl6pPr>
            <a:lvl7pPr marL="3239994" indent="0">
              <a:buNone/>
              <a:defRPr sz="2350"/>
            </a:lvl7pPr>
            <a:lvl8pPr marL="3779992" indent="0">
              <a:buNone/>
              <a:defRPr sz="2350"/>
            </a:lvl8pPr>
            <a:lvl9pPr marL="4319991" indent="0">
              <a:buNone/>
              <a:defRPr sz="2350"/>
            </a:lvl9pPr>
          </a:lstStyle>
          <a:p xmlns:a="http://schemas.openxmlformats.org/drawingml/2006/main">
            <a:pPr>
              <a:buNone/>
            </a:pPr>
            <a:r>
              <a:t>Вставка рисунка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45794D7-B7AC-4877-9222-D67C4338B0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43890" y="5400199"/>
            <a:ext cx="3483205" cy="1000453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900"/>
            </a:lvl1pPr>
            <a:lvl2pPr marL="539999" indent="0">
              <a:buNone/>
              <a:defRPr sz="1650"/>
            </a:lvl2pPr>
            <a:lvl3pPr marL="1079998" indent="0">
              <a:buNone/>
              <a:defRPr sz="1400"/>
            </a:lvl3pPr>
            <a:lvl4pPr marL="1619997" indent="0">
              <a:buNone/>
              <a:defRPr sz="1200"/>
            </a:lvl4pPr>
            <a:lvl5pPr marL="2159996" indent="0">
              <a:buNone/>
              <a:defRPr sz="1200"/>
            </a:lvl5pPr>
            <a:lvl6pPr marL="2699995" indent="0">
              <a:buNone/>
              <a:defRPr sz="1200"/>
            </a:lvl6pPr>
            <a:lvl7pPr marL="3239994" indent="0">
              <a:buNone/>
              <a:defRPr sz="1200"/>
            </a:lvl7pPr>
            <a:lvl8pPr marL="3779992" indent="0">
              <a:buNone/>
              <a:defRPr sz="1200"/>
            </a:lvl8pPr>
            <a:lvl9pPr marL="4319991" indent="0"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851FD54-CF53-4B7F-9335-81513B8937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F4A2BE3-A799-48A8-BE14-06FB919AB4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556FDE-AA26-4454-AAC4-1226460CEA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PhAnim="0" matchingName="" type="vertTx" preserve="1" userDrawn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33648E-3181-4DD5-B7D0-D6D2D4C1E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8D4B2F-5287-42BE-88BE-0C0D26DE00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700A06-CC01-4DE7-91CC-6713D9D469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C0847E-90D9-4A40-B2C6-4B349383DF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7ACF09-F468-4784-9B92-958D74513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PhAnim="0" matchingName="" type="vertTitleAndTx" preserve="1" userDrawn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9819703-62F9-463A-B073-07CB17131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28581" y="958369"/>
            <a:ext cx="2328699" cy="1525473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FD53CF-645E-4C4C-98C9-B9FE82D933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2484" y="958369"/>
            <a:ext cx="6851100" cy="1525473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699EB5-7A7F-40E9-956E-5756140A32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A5D823-3D46-44FA-AC9B-D33CD04148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888BE7-4958-4BA9-891D-F6C1BC4595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PhAnim="0" matchingName="" preserve="0" userDrawn="1">
  <p:cSld name="1_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3B51C205-85B1-405A-9C3D-02FF100A420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469990" y="13386078"/>
            <a:ext cx="2471330" cy="2530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EF9989C6-68BA-4CAD-96E5-E13A07DA29D3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185160" y="13386078"/>
            <a:ext cx="2453640" cy="2530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Овал 15">
            <a:extLst xmlns:a="http://schemas.openxmlformats.org/drawingml/2006/main">
              <a:ext uri="{FF2B5EF4-FFF2-40B4-BE49-F238E27FC236}">
                <a16:creationId xmlns:a16="http://schemas.microsoft.com/office/drawing/2014/main" id="{924D013C-8570-456F-8ED2-A0E6D84F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392" y="23074845"/>
            <a:ext cx="16517973" cy="16517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CF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0B5D02DB-3A69-4C83-8703-1FF0C606E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db6a8baae4bbe"/>
          <a:stretch xmlns:a="http://schemas.openxmlformats.org/drawingml/2006/main"/>
        </p:blipFill>
        <p:spPr>
          <a:xfrm xmlns:a="http://schemas.openxmlformats.org/drawingml/2006/main">
            <a:off x="1" y="8799"/>
            <a:ext cx="10799760" cy="169089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showMasterPhAnim="0" matchingName="" preserve="1" userDrawn="1">
  <p:cSld name="2_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35FB9A3E-7DA1-4CA0-B54C-81B1F5AAC20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469990" y="10444138"/>
            <a:ext cx="5168810" cy="2530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1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46A1C0B4-544B-44E6-9483-05D6FC0F01BC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469990" y="14069716"/>
            <a:ext cx="2471330" cy="2530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A87DB5DD-6334-4328-8717-14D50076DD4E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185160" y="14069716"/>
            <a:ext cx="2453640" cy="2530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AE273C37-106E-49DD-8E27-58BC13EBD11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882640" y="14069716"/>
            <a:ext cx="2453640" cy="2530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PhAnim="0" matchingName="" preserve="1" userDrawn="1">
  <p:cSld name="1_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08572D4-4FAB-4615-B5C8-C12AD85B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997" y="0"/>
            <a:ext cx="10927760" cy="1800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389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5" name="Овал 14">
            <a:extLst xmlns:a="http://schemas.openxmlformats.org/drawingml/2006/main">
              <a:ext uri="{FF2B5EF4-FFF2-40B4-BE49-F238E27FC236}">
                <a16:creationId xmlns:a16="http://schemas.microsoft.com/office/drawing/2014/main" id="{8264DD7E-1BDE-40E5-8A00-56B0315C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925" y="8700322"/>
            <a:ext cx="17039626" cy="1597558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8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E9E570FB-3067-464D-A220-62D382912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431fd7a9b4105"/>
          <a:stretch xmlns:a="http://schemas.openxmlformats.org/drawingml/2006/main"/>
        </p:blipFill>
        <p:spPr>
          <a:xfrm xmlns:a="http://schemas.openxmlformats.org/drawingml/2006/main">
            <a:off x="8207823" y="517254"/>
            <a:ext cx="1855959" cy="2615484"/>
          </a:xfrm>
          <a:prstGeom xmlns:a="http://schemas.openxmlformats.org/drawingml/2006/main" prst="rect">
            <a:avLst/>
          </a:prstGeom>
        </p:spPr>
      </p:pic>
      <p:sp>
        <p:nvSpPr>
          <p:cNvPr id="9" name="Заголовок 30">
            <a:extLst xmlns:a="http://schemas.openxmlformats.org/drawingml/2006/main">
              <a:ext uri="{FF2B5EF4-FFF2-40B4-BE49-F238E27FC236}">
                <a16:creationId xmlns:a16="http://schemas.microsoft.com/office/drawing/2014/main" id="{857600EA-25CC-445F-842F-E033ED0D8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759" y="3829879"/>
            <a:ext cx="7977378" cy="221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5400" b="1">
                <a:solidFill>
                  <a:schemeClr val="bg1"/>
                </a:solidFill>
                <a:latin typeface="Mont Bold"/>
                <a:ea typeface="Mont Bold"/>
                <a:cs typeface="Mont Bold"/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0" name="Текст 69">
            <a:extLst xmlns:a="http://schemas.openxmlformats.org/drawingml/2006/main">
              <a:ext uri="{FF2B5EF4-FFF2-40B4-BE49-F238E27FC236}">
                <a16:creationId xmlns:a16="http://schemas.microsoft.com/office/drawing/2014/main" id="{486AE910-E69E-44DA-8EC8-598FBDDD66E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5759" y="6158539"/>
            <a:ext cx="5298107" cy="579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accent2"/>
                </a:solidFill>
                <a:latin typeface="Mont Regular"/>
                <a:ea typeface="Mont Regular"/>
                <a:cs typeface="Mont Regular"/>
              </a:defRPr>
            </a:lvl1pPr>
          </a:lstStyle>
          <a:p xmlns:a="http://schemas.openxmlformats.org/drawingml/2006/main">
            <a:pPr lvl="0">
              <a:buNone/>
            </a:pPr>
            <a:r>
              <a:t>Номер</a:t>
            </a:r>
            <a:r>
              <a:t>/</a:t>
            </a:r>
            <a:r>
              <a:t>дата</a:t>
            </a:r>
            <a:endParaRPr/>
          </a:p>
        </p:txBody>
      </p:sp>
      <p:pic>
        <p:nvPicPr>
          <p:cNvPr id="14" name="Рисунок 13">
            <a:extLst xmlns:a="http://schemas.openxmlformats.org/drawingml/2006/main">
              <a:ext uri="{FF2B5EF4-FFF2-40B4-BE49-F238E27FC236}">
                <a16:creationId xmlns:a16="http://schemas.microsoft.com/office/drawing/2014/main" id="{9ADE7D62-EB69-434E-8F7B-8DF2957A46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50f2f9bdf41d7"/>
          <a:stretch xmlns:a="http://schemas.openxmlformats.org/drawingml/2006/main"/>
        </p:blipFill>
        <p:spPr>
          <a:xfrm xmlns:a="http://schemas.openxmlformats.org/drawingml/2006/main" rot="559302" flipH="1">
            <a:off x="3148912" y="9177882"/>
            <a:ext cx="7455836" cy="6990257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088fcf6cf4630" /><Relationship Type="http://schemas.openxmlformats.org/officeDocument/2006/relationships/slideLayout" Target="/ppt/slideLayouts/slideLayout1.xml" Id="R0c4af00a4f8a4b53" /><Relationship Type="http://schemas.openxmlformats.org/officeDocument/2006/relationships/slideLayout" Target="/ppt/slideLayouts/slideLayout2.xml" Id="R68efe63a67194328" /><Relationship Type="http://schemas.openxmlformats.org/officeDocument/2006/relationships/slideLayout" Target="/ppt/slideLayouts/slideLayout3.xml" Id="Rc482403ceb93421d" /><Relationship Type="http://schemas.openxmlformats.org/officeDocument/2006/relationships/slideLayout" Target="/ppt/slideLayouts/slideLayout4.xml" Id="Rfb5cf54af09846d6" /><Relationship Type="http://schemas.openxmlformats.org/officeDocument/2006/relationships/slideLayout" Target="/ppt/slideLayouts/slideLayout5.xml" Id="R4cd4cda5e400420a" /><Relationship Type="http://schemas.openxmlformats.org/officeDocument/2006/relationships/slideLayout" Target="/ppt/slideLayouts/slideLayout6.xml" Id="Rb3e6e2851fd543e9" /><Relationship Type="http://schemas.openxmlformats.org/officeDocument/2006/relationships/slideLayout" Target="/ppt/slideLayouts/slideLayout7.xml" Id="Re34e90e57bef49c3" /><Relationship Type="http://schemas.openxmlformats.org/officeDocument/2006/relationships/slideLayout" Target="/ppt/slideLayouts/slideLayout8.xml" Id="Re23aecd7f93d4206" /><Relationship Type="http://schemas.openxmlformats.org/officeDocument/2006/relationships/slideLayout" Target="/ppt/slideLayouts/slideLayout9.xml" Id="R1eb253f687b14c80" /><Relationship Type="http://schemas.openxmlformats.org/officeDocument/2006/relationships/slideLayout" Target="/ppt/slideLayouts/slideLayout10.xml" Id="R5bb60d38a97f4b32" /><Relationship Type="http://schemas.openxmlformats.org/officeDocument/2006/relationships/slideLayout" Target="/ppt/slideLayouts/slideLayout11.xml" Id="R66706ba9b10f4c54" /><Relationship Type="http://schemas.openxmlformats.org/officeDocument/2006/relationships/slideLayout" Target="/ppt/slideLayouts/slideLayout12.xml" Id="Ra9b332ccc0644a3a" /><Relationship Type="http://schemas.openxmlformats.org/officeDocument/2006/relationships/slideLayout" Target="/ppt/slideLayouts/slideLayout13.xml" Id="R86580c281acd49f8" /><Relationship Type="http://schemas.openxmlformats.org/officeDocument/2006/relationships/slideLayout" Target="/ppt/slideLayouts/slideLayout14.xml" Id="R71647c739f1d4b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1F39269-60D0-4D7E-A5BB-8C14DECA05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484" y="958373"/>
            <a:ext cx="9314796" cy="3479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E7A50A-528B-4688-94EF-598F30D7DE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2484" y="4791843"/>
            <a:ext cx="9314796" cy="11421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A582F8-D28C-44D7-B0BB-261E4F5835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42484" y="16683952"/>
            <a:ext cx="2429947" cy="958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B3865E41-8CE2-4778-B406-CBF79BAC439C}" type="datetimeFigureOut">
              <a:t/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D24519-67DE-45BB-8BB9-C0C29DD2F45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577422" y="16683952"/>
            <a:ext cx="3644920" cy="958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3F82A0-DDC2-46C4-AFC2-D87DD0A3DF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7332" y="16683952"/>
            <a:ext cx="2429947" cy="958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A8CFD3A9-CC5E-4F98-8265-732DCB13CCEA}" type="slidenum"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4af00a4f8a4b53"/>
    <p:sldLayoutId xmlns:r="http://schemas.openxmlformats.org/officeDocument/2006/relationships" id="2147483650" r:id="R68efe63a67194328"/>
    <p:sldLayoutId xmlns:r="http://schemas.openxmlformats.org/officeDocument/2006/relationships" id="2147483651" r:id="Rc482403ceb93421d"/>
    <p:sldLayoutId xmlns:r="http://schemas.openxmlformats.org/officeDocument/2006/relationships" id="2147483652" r:id="Rfb5cf54af09846d6"/>
    <p:sldLayoutId xmlns:r="http://schemas.openxmlformats.org/officeDocument/2006/relationships" id="2147483653" r:id="R4cd4cda5e400420a"/>
    <p:sldLayoutId xmlns:r="http://schemas.openxmlformats.org/officeDocument/2006/relationships" id="2147483654" r:id="Rb3e6e2851fd543e9"/>
    <p:sldLayoutId xmlns:r="http://schemas.openxmlformats.org/officeDocument/2006/relationships" id="2147483655" r:id="Re34e90e57bef49c3"/>
    <p:sldLayoutId xmlns:r="http://schemas.openxmlformats.org/officeDocument/2006/relationships" id="2147483656" r:id="Re23aecd7f93d4206"/>
    <p:sldLayoutId xmlns:r="http://schemas.openxmlformats.org/officeDocument/2006/relationships" id="2147483657" r:id="R1eb253f687b14c80"/>
    <p:sldLayoutId xmlns:r="http://schemas.openxmlformats.org/officeDocument/2006/relationships" id="2147483658" r:id="R5bb60d38a97f4b32"/>
    <p:sldLayoutId xmlns:r="http://schemas.openxmlformats.org/officeDocument/2006/relationships" id="2147483659" r:id="R66706ba9b10f4c54"/>
    <p:sldLayoutId xmlns:r="http://schemas.openxmlformats.org/officeDocument/2006/relationships" id="2147483660" r:id="Ra9b332ccc0644a3a"/>
    <p:sldLayoutId xmlns:r="http://schemas.openxmlformats.org/officeDocument/2006/relationships" id="2147483661" r:id="R86580c281acd49f8"/>
    <p:sldLayoutId xmlns:r="http://schemas.openxmlformats.org/officeDocument/2006/relationships" id="2147483662" r:id="R71647c739f1d4b37"/>
  </p:sldLayoutIdLst>
  <p:txStyles>
    <p:titleStyle>
      <a:lvl1pPr xmlns:a="http://schemas.openxmlformats.org/drawingml/2006/main" algn="l" defTabSz="1079998">
        <a:lnSpc>
          <a:spcPct val="90000"/>
        </a:lnSpc>
        <a:spcBef>
          <a:spcPts val="0"/>
        </a:spcBef>
        <a:buNone/>
        <a:defRPr sz="5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69999" indent="-269999" algn="l" defTabSz="1079998">
        <a:lnSpc>
          <a:spcPct val="90000"/>
        </a:lnSpc>
        <a:spcBef>
          <a:spcPts val="1181"/>
        </a:spcBef>
        <a:buFont typeface="Arial"/>
        <a:buChar char="•"/>
        <a:defRPr sz="33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09998" indent="-269999" algn="l" defTabSz="1079998">
        <a:lnSpc>
          <a:spcPct val="90000"/>
        </a:lnSpc>
        <a:spcBef>
          <a:spcPts val="591"/>
        </a:spcBef>
        <a:buFont typeface="Arial"/>
        <a:buChar char="•"/>
        <a:defRPr sz="28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49997" indent="-269999" algn="l" defTabSz="1079998">
        <a:lnSpc>
          <a:spcPct val="90000"/>
        </a:lnSpc>
        <a:spcBef>
          <a:spcPts val="591"/>
        </a:spcBef>
        <a:buFont typeface="Arial"/>
        <a:buChar char="•"/>
        <a:defRPr sz="2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889996" indent="-269999" algn="l" defTabSz="1079998">
        <a:lnSpc>
          <a:spcPct val="90000"/>
        </a:lnSpc>
        <a:spcBef>
          <a:spcPts val="591"/>
        </a:spcBef>
        <a:buFont typeface="Arial"/>
        <a:buChar char="•"/>
        <a:defRPr sz="21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29995" indent="-269999" algn="l" defTabSz="1079998">
        <a:lnSpc>
          <a:spcPct val="90000"/>
        </a:lnSpc>
        <a:spcBef>
          <a:spcPts val="591"/>
        </a:spcBef>
        <a:buFont typeface="Arial"/>
        <a:buChar char="•"/>
        <a:defRPr sz="21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994" indent="-269999" algn="l" defTabSz="1079998">
        <a:lnSpc>
          <a:spcPct val="90000"/>
        </a:lnSpc>
        <a:spcBef>
          <a:spcPts val="591"/>
        </a:spcBef>
        <a:buFont typeface="Arial"/>
        <a:buChar char="•"/>
        <a:defRPr sz="2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09993" indent="-269999" algn="l" defTabSz="1079998">
        <a:lnSpc>
          <a:spcPct val="90000"/>
        </a:lnSpc>
        <a:spcBef>
          <a:spcPts val="591"/>
        </a:spcBef>
        <a:buFont typeface="Arial"/>
        <a:buChar char="•"/>
        <a:defRPr sz="2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049992" indent="-269999" algn="l" defTabSz="1079998">
        <a:lnSpc>
          <a:spcPct val="90000"/>
        </a:lnSpc>
        <a:spcBef>
          <a:spcPts val="591"/>
        </a:spcBef>
        <a:buFont typeface="Arial"/>
        <a:buChar char="•"/>
        <a:defRPr sz="2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589991" indent="-269999" algn="l" defTabSz="1079998">
        <a:lnSpc>
          <a:spcPct val="90000"/>
        </a:lnSpc>
        <a:spcBef>
          <a:spcPts val="591"/>
        </a:spcBef>
        <a:buFont typeface="Arial"/>
        <a:buChar char="•"/>
        <a:defRPr sz="2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9999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79998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19997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59996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699995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39994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779992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19991" algn="l" defTabSz="1079998">
        <a:buNone/>
        <a:defRPr sz="2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Другая 1">
      <a:majorFont>
        <a:latin typeface="Mont Bold"/>
        <a:ea typeface="Arial"/>
        <a:cs typeface="Arial"/>
      </a:majorFont>
      <a:minorFont>
        <a:latin typeface="Mont Regular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c96a0f59eea49e1" /><Relationship Type="http://schemas.openxmlformats.org/officeDocument/2006/relationships/image" Target="/ppt/media/image4.png" Id="Rdfcd85041d4a46d4" /><Relationship Type="http://schemas.openxmlformats.org/officeDocument/2006/relationships/hyperlink" Target="https://disk.360.yandex.ru/d/rvwgAOoSXEkN-A" TargetMode="External" Id="R4771e888c8784a84" /><Relationship Type="http://schemas.openxmlformats.org/officeDocument/2006/relationships/image" Target="/ppt/media/image.jpeg" Id="R4ef51c388a7140ef" /><Relationship Type="http://schemas.openxmlformats.org/officeDocument/2006/relationships/image" Target="/ppt/media/image2.jpeg" Id="Rb1968444f7654604" /><Relationship Type="http://schemas.openxmlformats.org/officeDocument/2006/relationships/hyperlink" Target="https://disk.360.yandex.ru/i/K4nTqIMp9uGsPw" TargetMode="External" Id="Refa918276b6249e6" /><Relationship Type="http://schemas.openxmlformats.org/officeDocument/2006/relationships/hyperlink" Target="https://disk.360.yandex.ru/i/WQ2zoY3-nO5BrA" TargetMode="External" Id="R5e7ea4724aec4021" /><Relationship Type="http://schemas.openxmlformats.org/officeDocument/2006/relationships/hyperlink" Target="https://disk.360.yandex.ru/i/dMXzCPdA1nymKw" TargetMode="External" Id="R05a47b73f55247a6" /><Relationship Type="http://schemas.openxmlformats.org/officeDocument/2006/relationships/hyperlink" Target="https://vos.olimpiada.ru/2026/school" TargetMode="External" Id="Rbc959ba97c654f7e" /><Relationship Type="http://schemas.openxmlformats.org/officeDocument/2006/relationships/hyperlink" Target="https://school.mos.ru/" TargetMode="External" Id="R2fcf4a8bff7e4449" /><Relationship Type="http://schemas.openxmlformats.org/officeDocument/2006/relationships/hyperlink" Target="https://school.mos.ru/help/instructions/olympiad/acquaintance-olympiad/olympic-student/" TargetMode="External" Id="R2319bd9c97ec4459" /><Relationship Type="http://schemas.openxmlformats.org/officeDocument/2006/relationships/hyperlink" Target="https://disk.360.yandex.ru/i/mPQPbzwXr1ooeg" TargetMode="External" Id="R331a03af63614e63" /><Relationship Type="http://schemas.openxmlformats.org/officeDocument/2006/relationships/hyperlink" Target="https://disk.360.yandex.ru/i/QSQraJQ2j3GysQ" TargetMode="External" Id="R50f7e6d2d6164d52" /><Relationship Type="http://schemas.openxmlformats.org/officeDocument/2006/relationships/hyperlink" Target="https://forms.yandex.ru/u/6ac78796eb6146083a4951ee" TargetMode="External" Id="Rf370ba338a6e49a5" /><Relationship Type="http://schemas.openxmlformats.org/officeDocument/2006/relationships/notesSlide" Target="/ppt/notesSlides/notesSlide1.xml" Id="R56dd11999753460a" /></Relationships>
</file>

<file path=ppt/slides/slide1.xml><?xml version="1.0" encoding="utf-8"?>
<p:sld xmlns:p="http://schemas.openxmlformats.org/presentationml/2006/main" show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82B2AA7D-241D-4739-9041-4AB303E22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d85041d4a46d4"/>
          <a:stretch xmlns:a="http://schemas.openxmlformats.org/drawingml/2006/main"/>
        </p:blipFill>
        <p:spPr>
          <a:xfrm xmlns:a="http://schemas.openxmlformats.org/drawingml/2006/main" flipH="1">
            <a:off x="990600" y="11811000"/>
            <a:ext cx="2571750" cy="2571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55349217" name="Таблица 8">
            <a:extLst xmlns:a="http://schemas.openxmlformats.org/drawingml/2006/main">
              <a:ext uri="{FF2B5EF4-FFF2-40B4-BE49-F238E27FC236}">
                <a16:creationId xmlns:a16="http://schemas.microsoft.com/office/drawing/2014/main" id="{A5F56B0E-233D-4CAC-8215-EB6AB33CDF4E}"/>
              </a:ext>
            </a:extLst>
          </p:cNvPr>
          <p:cNvGraphicFramePr/>
          <p:nvPr/>
        </p:nvGraphicFramePr>
        <p:xfrm>
          <a:off xmlns:a="http://schemas.openxmlformats.org/drawingml/2006/main" x="443770" y="2809875"/>
          <a:ext xmlns:a="http://schemas.openxmlformats.org/drawingml/2006/main" cx="10154793" cy="3276600"/>
        </p:xfrm>
        <a:graphic xmlns:a="http://schemas.openxmlformats.org/drawingml/2006/main">
          <a:graphicData uri="http://schemas.openxmlformats.org/drawingml/2006/table">
            <a:tbl>
              <a:tblPr firstRow="1" firstCol="0" lastRow="0" lastCol="0" bandRow="1" bandCol="0">
                <a:tableStyleId>{2579BFC9-DFF7-CB57-E077-6E20FEF20DDB}</a:tableStyleId>
              </a:tblPr>
              <a:tblGrid>
                <a:gridCol w="1428750"/>
                <a:gridCol w="3667125"/>
                <a:gridCol w="5058918"/>
              </a:tblGrid>
              <a:tr h="36195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Дата / время</a:t>
                      </a:r>
                      <a:endParaRPr sz="1200">
                        <a:latin typeface="Mont Bold"/>
                        <a:ea typeface="Mont Bold"/>
                        <a:cs typeface="Mont Bold"/>
                      </a:endParaRPr>
                    </a:p>
                  </a:txBody>
                  <a:tcPr marL="91440" marR="91440" marT="45720" marB="45720" anchor="ctr">
                    <a:lnL w="12700">
                      <a:solidFill>
                        <a:srgbClr val="1C4289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rgbClr val="1C4289"/>
                      </a:solidFill>
                    </a:lnT>
                    <a:lnB w="12700">
                      <a:solidFill>
                        <a:srgbClr val="1C4289"/>
                      </a:solidFill>
                    </a:lnB>
                    <a:solidFill>
                      <a:srgbClr val="1D438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Мероприятие</a:t>
                      </a:r>
                      <a:endParaRPr sz="1200">
                        <a:latin typeface="Mont Bold"/>
                        <a:ea typeface="Mont Bold"/>
                        <a:cs typeface="Mont Bold"/>
                      </a:endParaRPr>
                    </a:p>
                  </a:txBody>
                  <a:tcPr marL="91440" marR="91440" marT="45720" marB="4572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rgbClr val="1C4289"/>
                      </a:solidFill>
                    </a:lnT>
                    <a:lnB w="12700">
                      <a:solidFill>
                        <a:srgbClr val="1C4289"/>
                      </a:solidFill>
                    </a:lnB>
                    <a:solidFill>
                      <a:srgbClr val="1D438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Подробная информация</a:t>
                      </a:r>
                      <a:endParaRPr sz="1200">
                        <a:latin typeface="Mont Bold"/>
                        <a:ea typeface="Mont Bold"/>
                        <a:cs typeface="Mont Bold"/>
                      </a:endParaRPr>
                    </a:p>
                  </a:txBody>
                  <a:tcPr marL="91440" marR="91440" marT="45720" marB="4572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rgbClr val="1C4289"/>
                      </a:solidFill>
                    </a:lnR>
                    <a:lnT w="12700">
                      <a:solidFill>
                        <a:srgbClr val="1C4289"/>
                      </a:solidFill>
                    </a:lnT>
                    <a:lnB w="12700">
                      <a:solidFill>
                        <a:srgbClr val="1C4289"/>
                      </a:solidFill>
                    </a:lnB>
                    <a:solidFill>
                      <a:srgbClr val="1D4389"/>
                    </a:solidFill>
                  </a:tcPr>
                </a:tc>
              </a:tr>
              <a:tr h="6096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140" b="0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ПН | 12.10</a:t>
                      </a:r>
                      <a:endParaRPr sz="1100" b="0" i="0" u="none" strike="noStrike" cap="none" spc="0">
                        <a:solidFill>
                          <a:srgbClr val="1D4389"/>
                        </a:solidFill>
                        <a:latin typeface="Mont Regular"/>
                        <a:ea typeface="Mont Regular"/>
                        <a:cs typeface="Mont Regular"/>
                      </a:endParaRPr>
                    </a:p>
                    <a:p>
                      <a:pPr algn="ctr">
                        <a:buNone/>
                      </a:pPr>
                      <a:r>
                        <a:rPr sz="1140" b="0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15:00</a:t>
                      </a:r>
                      <a:endParaRPr sz="1100" b="0" i="0" u="none" strike="noStrike" cap="none" spc="0">
                        <a:solidFill>
                          <a:srgbClr val="1D4389"/>
                        </a:solidFill>
                        <a:latin typeface="Mont Regular"/>
                        <a:ea typeface="Mont Regular"/>
                        <a:cs typeface="Mont Regular"/>
                      </a:endParaRPr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700">
                      <a:solidFill>
                        <a:srgbClr val="1C4289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l">
                        <a:buNone/>
                      </a:pPr>
                      <a:r>
                        <a:rPr sz="1140" b="1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Встреча участников поездки</a:t>
                      </a:r>
                      <a:endParaRPr sz="1100" b="1" i="0" u="none" strike="noStrike" cap="none" spc="0">
                        <a:solidFill>
                          <a:srgbClr val="1D4389"/>
                        </a:solidFill>
                        <a:latin typeface="Mont Regular"/>
                        <a:ea typeface="Mont Regular"/>
                        <a:cs typeface="Mont Regular"/>
                      </a:endParaRPr>
                    </a:p>
                    <a:p>
                      <a:pPr algn="l">
                        <a:buNone/>
                      </a:pPr>
                      <a:r>
                        <a:rPr sz="1140" b="1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в Санкт-Петербург</a:t>
                      </a:r>
                      <a:endParaRPr sz="2000">
                        <a:latin typeface="Mont Regular"/>
                        <a:ea typeface="Mont Regular"/>
                        <a:cs typeface="Mont Regular"/>
                      </a:endParaRPr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700">
                      <a:solidFill>
                        <a:srgbClr val="1C4289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40" b="0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Атриум. Программа поездки, подготовка и организационные вопросы.</a:t>
                      </a:r>
                      <a:endParaRPr/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700">
                      <a:solidFill>
                        <a:srgbClr val="1C4289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pPr marL="0" marR="0" lvl="0" indent="0" algn="ctr" defTabSz="1079998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40" b="0" i="0" u="none" strike="noStrike" cap="none" spc="0">
                          <a:ln>
                            <a:noFill/>
                          </a:ln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ВТ | 13.10</a:t>
                      </a:r>
                      <a:endParaRPr/>
                    </a:p>
                    <a:p>
                      <a:pPr marL="0" marR="0" lvl="0" indent="0" algn="ctr" defTabSz="1079998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40" b="0" i="0" u="none" strike="noStrike" cap="none" spc="0">
                          <a:ln>
                            <a:noFill/>
                          </a:ln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15:40–17:10</a:t>
                      </a:r>
                      <a:endParaRPr/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l">
                        <a:buNone/>
                      </a:pPr>
                      <a:r>
                        <a:rPr sz="1140" b="1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Школьный этап ВсОШ</a:t>
                      </a:r>
                      <a:endParaRPr sz="1100">
                        <a:latin typeface="Mont Regular"/>
                        <a:ea typeface="Mont Regular"/>
                        <a:cs typeface="Mont Regular"/>
                      </a:endParaRPr>
                    </a:p>
                    <a:p>
                      <a:pPr algn="l">
                        <a:buNone/>
                      </a:pPr>
                      <a:r>
                        <a:rPr sz="1140" b="1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по математике</a:t>
                      </a:r>
                      <a:endParaRPr sz="1100">
                        <a:latin typeface="Mont Regular"/>
                        <a:ea typeface="Mont Regular"/>
                        <a:cs typeface="Mont Regular"/>
                      </a:endParaRPr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40" b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Кабинеты 329 и 331. Взять личный ноутбук. Резервные ноутбуки подготовит школа.</a:t>
                      </a:r>
                      <a:endParaRPr sz="1100" b="1" i="0" u="none" strike="noStrike" cap="none" spc="0">
                        <a:solidFill>
                          <a:srgbClr val="1D4389"/>
                        </a:solidFill>
                        <a:latin typeface="Mont Regular"/>
                        <a:ea typeface="Mont Regular"/>
                        <a:cs typeface="Mont Regular"/>
                      </a:endParaRPr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76250">
                <a:tc>
                  <a:txBody>
                    <a:bodyPr lIns="76200" tIns="76200" rIns="76200" bIns="76200"/>
                    <a:lstStyle/>
                    <a:p>
                      <a:pPr marL="0" marR="0" lvl="0" indent="0" algn="ctr" defTabSz="1079998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40" b="0" i="0" u="none" strike="noStrike" cap="none" spc="0">
                          <a:ln>
                            <a:noFill/>
                          </a:ln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СР | 14.10</a:t>
                      </a:r>
                      <a:endParaRPr/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l">
                        <a:buNone/>
                      </a:pPr>
                      <a:r>
                        <a:rPr sz="1140" b="1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Конкурс сочинений</a:t>
                      </a:r>
                      <a:endParaRPr sz="1100" b="1" i="0" u="none" strike="noStrike" cap="none" spc="0">
                        <a:solidFill>
                          <a:srgbClr val="1D4389"/>
                        </a:solidFill>
                        <a:latin typeface="Mont Regular"/>
                        <a:ea typeface="Mont Regular"/>
                        <a:cs typeface="Mont Regular"/>
                      </a:endParaRPr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40" b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Срок подачи работ «Осенняя пора! Очей очарованье!».</a:t>
                      </a:r>
                      <a:endParaRPr/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47700">
                <a:tc>
                  <a:txBody>
                    <a:bodyPr lIns="76200" tIns="76200" rIns="76200" bIns="76200"/>
                    <a:lstStyle/>
                    <a:p>
                      <a:pPr marL="0" marR="0" lvl="0" indent="0" algn="ctr" defTabSz="1079998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40" b="0" i="0" u="none" strike="noStrike" cap="none" spc="0">
                          <a:ln>
                            <a:noFill/>
                          </a:ln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ЧТ | 15.10</a:t>
                      </a:r>
                      <a:endParaRPr/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l">
                        <a:buNone/>
                      </a:pPr>
                      <a:r>
                        <a:rPr sz="1140" b="1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День словесности</a:t>
                      </a:r>
                      <a:endParaRPr sz="1100">
                        <a:latin typeface="Mont Regular"/>
                        <a:ea typeface="Mont Regular"/>
                        <a:cs typeface="Mont Regular"/>
                      </a:endParaRPr>
                    </a:p>
                    <a:p>
                      <a:pPr algn="l">
                        <a:buNone/>
                      </a:pPr>
                      <a:r>
                        <a:rPr sz="1140" b="1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Регистрация на «Квантландию»</a:t>
                      </a:r>
                      <a:endParaRPr sz="1100">
                        <a:latin typeface="Mont Regular"/>
                        <a:ea typeface="Mont Regular"/>
                        <a:cs typeface="Mont Regular"/>
                      </a:endParaRPr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40" b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Принести стихотворения и иллюстрации. Зарегистрироваться на турнир до 15 октября.</a:t>
                      </a:r>
                      <a:endParaRPr sz="1100" b="1" i="0" u="none" strike="noStrike" cap="none" spc="0">
                        <a:solidFill>
                          <a:srgbClr val="1D4389"/>
                        </a:solidFill>
                        <a:latin typeface="Mont Regular"/>
                        <a:ea typeface="Mont Regular"/>
                        <a:cs typeface="Mont Regular"/>
                      </a:endParaRPr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76250">
                <a:tc>
                  <a:txBody>
                    <a:bodyPr lIns="76200" tIns="76200" rIns="76200" bIns="76200"/>
                    <a:lstStyle/>
                    <a:p>
                      <a:pPr marL="0" marR="0" lvl="0" indent="0" algn="ctr" defTabSz="1079998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40" b="0" i="0" u="none" strike="noStrike" cap="none" spc="0">
                          <a:ln>
                            <a:noFill/>
                          </a:ln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ПТ | 16.10</a:t>
                      </a:r>
                      <a:endParaRPr/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l">
                        <a:buNone/>
                      </a:pPr>
                      <a:r>
                        <a:rPr sz="1140" b="1" i="0" u="none" strike="noStrike" cap="none" spc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ВсОШ по китайскому языку</a:t>
                      </a:r>
                      <a:endParaRPr sz="1100" b="1" i="0" u="none" strike="noStrike" cap="none" spc="0">
                        <a:solidFill>
                          <a:srgbClr val="1D4389"/>
                        </a:solidFill>
                        <a:latin typeface="Mont Regular"/>
                        <a:ea typeface="Mont Regular"/>
                        <a:cs typeface="Mont Regular"/>
                      </a:endParaRPr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40" b="0">
                          <a:solidFill>
                            <a:srgbClr val="1C4289"/>
                          </a:solidFill>
                          <a:latin typeface="Mont Regular"/>
                          <a:ea typeface="Mont Regular"/>
                          <a:cs typeface="Mont Regular"/>
                        </a:rPr>
                        <a:t>16–18 октября. Теоретические туры проходят в МЭШ.</a:t>
                      </a:r>
                      <a:endParaRPr/>
                    </a:p>
                  </a:txBody>
                  <a:tcPr marL="91440" marR="91440" marT="45720" marB="45720" anchor="ctr">
                    <a:lnL w="12699">
                      <a:solidFill>
                        <a:srgbClr val="000000"/>
                      </a:solidFill>
                    </a:lnL>
                    <a:lnR w="12699">
                      <a:solidFill>
                        <a:srgbClr val="000000"/>
                      </a:solidFill>
                    </a:lnR>
                    <a:lnT w="12699">
                      <a:solidFill>
                        <a:srgbClr val="000000"/>
                      </a:solidFill>
                    </a:lnT>
                    <a:lnB w="12699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9446456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27B0C2B-7353-4FD4-9452-A80D5F8D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706" y="359378"/>
            <a:ext cx="4191000" cy="1088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indent="0" algn="l" defTabSz="457200">
              <a:buNone/>
              <a:defRPr sz="2200" b="1">
                <a:solidFill>
                  <a:schemeClr val="tx1">
                    <a:tint val="82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5" indent="0" algn="l" defTabSz="457200">
              <a:buNone/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914400" algn="l" defTabSz="457200">
              <a:buNone/>
              <a:defRPr sz="18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1371600" algn="l" defTabSz="457200">
              <a:buNone/>
              <a:defRPr sz="18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1828800" algn="l" defTabSz="457200">
              <a:buNone/>
              <a:defRPr sz="18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2286000" algn="l" defTabSz="45720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3400" b="1">
                <a:solidFill>
                  <a:srgbClr val="FF8717"/>
                </a:solidFill>
                <a:latin typeface="Mont Bold"/>
                <a:ea typeface="Mont Bold"/>
                <a:cs typeface="Mont Bold"/>
              </a:rPr>
              <a:t>5 Сахалин</a:t>
            </a:r>
          </a:p>
          <a:p xmlns:a="http://schemas.openxmlformats.org/drawingml/2006/main">
            <a:r>
              <a:rPr sz="1800" b="1">
                <a:solidFill>
                  <a:srgbClr val="FFFFFF"/>
                </a:solidFill>
                <a:latin typeface="Mont Bold"/>
                <a:ea typeface="Mont Bold"/>
                <a:cs typeface="Mont Bold"/>
              </a:rPr>
              <a:t>12.10.2026 – 18.10.2026</a:t>
            </a:r>
          </a:p>
        </p:txBody>
      </p:sp>
      <p:sp>
        <p:nvSpPr>
          <p:cNvPr id="6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080252-36E6-497F-B02D-ACA65AA8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81" y="2231126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D4389"/>
                </a:solidFill>
                <a:latin typeface="Mont Bold"/>
                <a:ea typeface="Mont Bold"/>
                <a:cs typeface="Mont Bold"/>
              </a:rPr>
              <a:t>«Мы — одна команда!»</a:t>
            </a:r>
          </a:p>
          <a:p xmlns:a="http://schemas.openxmlformats.org/drawingml/2006/main">
            <a:r>
              <a:rPr sz="2000" b="1">
                <a:solidFill>
                  <a:srgbClr val="FF8717"/>
                </a:solidFill>
                <a:latin typeface="Mont Bold"/>
                <a:ea typeface="Mont Bold"/>
                <a:cs typeface="Mont Bold"/>
              </a:rPr>
              <a:t>Класс Сахалин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8A585D2-C9A6-40DA-BD82-A1FC1CB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3458825"/>
            <a:ext cx="1743075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defPPr>
          </a:lstStyle>
          <a:p xmlns:a="http://schemas.openxmlformats.org/drawingml/2006/main">
            <a:pPr algn="ctr">
              <a:buNone/>
              <a:def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4771e888c8784a84"/>
              </a:rPr>
              <a:t>Полезные ссылки</a:t>
            </a:r>
            <a:endParaRPr sz="1400" u="sng">
              <a:solidFill>
                <a:srgbClr val="1C4289"/>
              </a:solidFill>
            </a:endParaRPr>
          </a:p>
        </p:txBody>
      </p:sp>
      <p:pic>
        <p:nvPicPr>
          <p:cNvPr id="1365352136" name="">
            <a:extLst xmlns:a="http://schemas.openxmlformats.org/drawingml/2006/main">
              <a:ext uri="{FF2B5EF4-FFF2-40B4-BE49-F238E27FC236}">
                <a16:creationId xmlns:a16="http://schemas.microsoft.com/office/drawing/2014/main" id="{B683A692-12A7-4AC3-9DB2-16821649C4B0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1"/>
          </p:nvPr>
        </p:nvPicPr>
        <p:blipFill>
          <a:blip xmlns:r="http://schemas.openxmlformats.org/officeDocument/2006/relationships" xmlns:a="http://schemas.openxmlformats.org/drawingml/2006/main" r:embed="R4ef51c388a7140e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>
            <a:off x="4238625" y="21240750"/>
            <a:ext cx="3552825" cy="2676525"/>
          </a:xfrm>
          <a:prstGeom xmlns:a="http://schemas.openxmlformats.org/drawingml/2006/main" prst="rect">
            <a:avLst/>
          </a:prstGeom>
        </p:spPr>
      </p:pic>
      <p:pic>
        <p:nvPicPr>
          <p:cNvPr id="1551524424" name="">
            <a:extLst xmlns:a="http://schemas.openxmlformats.org/drawingml/2006/main">
              <a:ext uri="{FF2B5EF4-FFF2-40B4-BE49-F238E27FC236}">
                <a16:creationId xmlns:a16="http://schemas.microsoft.com/office/drawing/2014/main" id="{5593E4C1-8E71-4A54-8BB1-CCE8AA76F9B9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2"/>
          </p:nvPr>
        </p:nvPicPr>
        <p:blipFill>
          <a:blip xmlns:r="http://schemas.openxmlformats.org/officeDocument/2006/relationships" xmlns:a="http://schemas.openxmlformats.org/drawingml/2006/main" r:embed="Rb1968444f76546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>
            <a:off x="8096250" y="20812125"/>
            <a:ext cx="2219325" cy="310515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E23B84-212B-4352-A94A-75121109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575" y="7162800"/>
            <a:ext cx="3371850" cy="495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defPPr>
          </a:lstStyle>
          <a:p xmlns:a="http://schemas.openxmlformats.org/drawingml/2006/main">
            <a:pPr>
              <a:lnSpc>
                <a:spcPct val="113000"/>
              </a:lnSpc>
              <a:spcAft>
                <a:spcPts val="7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 b="1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Фестиваль талантов продолжается. 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Приглашаем учеников поддержать участников и выбрать выступления, которые хочется посетить. </a:t>
            </a: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efa918276b6249e6"/>
              </a:rPr>
              <a:t>Расписание выступлений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.</a:t>
            </a:r>
          </a:p>
          <a:p xmlns:a="http://schemas.openxmlformats.org/drawingml/2006/main">
            <a:pPr>
              <a:lnSpc>
                <a:spcPct val="113000"/>
              </a:lnSpc>
              <a:spcAft>
                <a:spcPts val="7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 b="1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У нас так принято. 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После занятия оставляем кабинет в чистоте и порядке, готовым к следующему уроку. Бережно относимся к общему учебному пространству.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DB5A41B-44C9-465D-868D-67B9F4A2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95775" y="7162800"/>
            <a:ext cx="6191250" cy="129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spcAft>
                <a:spcPts val="9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12 октября в 15:00 в атриуме состоится организационное собрание для участников образовательного путешествия в Санкт-Петербург. Ребятам расскажут о программе поездки, подготовке к путешествию и организационных деталях, а также ответят на их вопросы.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9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Уважаемые родители! Продолжается школьный этап ВсОШ. Проект графика школьного этапа размещен </a:t>
            </a: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5e7ea4724aec4021"/>
              </a:rPr>
              <a:t>по ссылке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. </a:t>
            </a: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05a47b73f55247a6"/>
              </a:rPr>
              <a:t>Информационное письмо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 об участии в школьном этапе. Ответы на все организационные вопросы вы можете найти на </a:t>
            </a: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bc959ba97c654f7e"/>
              </a:rPr>
              <a:t>странице ШЭ ВсОШ в Москве</a:t>
            </a:r>
            <a:b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</a:b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Ближайшие предметы:</a:t>
            </a:r>
            <a:b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</a:b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12-15 октября: Математика</a:t>
            </a:r>
            <a:b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</a:b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14-16 октября: Право</a:t>
            </a:r>
            <a:b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</a:b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16-18 октября: Китайский язык</a:t>
            </a:r>
            <a:b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</a:b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2fcf4a8bff7e4449"/>
              </a:rPr>
              <a:t>Важно! Теоретические туры школьного этапа в Москве проходят с использованием ресурсов Московской электронной школы.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 Инструкция по участию </a:t>
            </a: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2319bd9c97ec4459"/>
              </a:rPr>
              <a:t>по ссылке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.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9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С 1 октября ребята приступили к занятиям по программам внеакадемического и дополнительного образования. Следующая возможность перезаписаться откроется после 15 декабря. Счета за курсы дополнительного образования размещены в ЕЛК. Пожалуйста, своевременно внесите оплату, чтобы сохранить место за ребёнком. Если возникнут вопросы по оплате или курсам, напишите нам @ext.junior — поможем разобраться.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9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С 12 по 15 октября проходит школьный этап ВсОШ по математике. Ученики 5–6-х классов, желающие пройти тур в школе, приглашаются 13 октября с 15:40 до 17:10 в кабинеты 329 и 331. Просим обеспечить ребёнка ноутбуком для участия. Резервные школьные ноутбуки также будут подготовлены.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9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Ко </a:t>
            </a: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331a03af63614e63"/>
              </a:rPr>
              <a:t>Дню словесности «Пушкин. Осень. Слово»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 приглашаем учеников и родителей принести стихотворения собственного сочинения для выставки «Болдинское вдохновение» до 15 октября. Ученикам предлагается подготовить иллюстрацию к стихотворению А. С. Пушкина для выставки-конкурса «Осень в творчестве Пушкина», разместив в нижнем правом углу наклейку со строками из стихотворения, — до 15 октября. Срок подачи работ на конкурс сочинений «Осенняя пора! Очей очарованье!» — 14 октября.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9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Продолжается знакомство обучающихся 5-х классов с LMS Canvas. Ученикам классов «Родос» и «Корсика» необходимо принести личные ноутбуки и зарядные устройства. Занятие по работе в системе состоится у класса «Родос» в среду, 14 октября, у класса «Корсика» — в пятницу, 16 октября, на уроках технологии.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9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В нашей школе продолжается подготовка ко Дню книги, который состоится 23 октября. До 20 октября учителя английского языка принимают книги на английском языке для буккроссинга, а также фотографии для Extreme Reading Challenge. Подробнее </a:t>
            </a: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50f7e6d2d6164d52"/>
              </a:rPr>
              <a:t>по ссылке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900"/>
              </a:spcAft>
              <a:buNone/>
              <a:def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defRPr>
            </a:pP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Уважаемые родители! 24 октября сборная «Летово Джуниор» примет участие в очном городском математическом турнире «Квантландия». Приглашаем принять участие всех заинтересованных ребят. Для формирования команд и знакомства с форматом проведения нужно пройти </a:t>
            </a:r>
            <a:r>
              <a:rPr sz="1300" u="sng">
                <a:solidFill>
                  <a:srgbClr val="1C4289"/>
                </a:solidFill>
                <a:latin typeface="Mont Regular"/>
                <a:ea typeface="Mont Regular"/>
                <a:cs typeface="Mont Regular"/>
                <a:hlinkClick xmlns:r="http://schemas.openxmlformats.org/officeDocument/2006/relationships" r:id="Rf370ba338a6e49a5"/>
              </a:rPr>
              <a:t>регистрацию</a:t>
            </a: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 до 15 октября. 24 октября — первый день каникул. Перед регистрацией, пожалуйста, убедитесь, что в этот день ваш ребёнок будет в Москве и сможет участвовать в городском турнире.</a:t>
            </a:r>
            <a:b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</a:br>
            <a:r>
              <a:rPr sz="1300">
                <a:solidFill>
                  <a:srgbClr val="1C4289"/>
                </a:solidFill>
                <a:latin typeface="Mont Regular"/>
                <a:ea typeface="Mont Regular"/>
                <a:cs typeface="Mont Regular"/>
              </a:rPr>
              <a:t>(Ориентировочное время проведения турнира 14:00 – 18:00)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F0DCEA-9C33-47CB-9951-ADF9FB70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22" y="1940918"/>
            <a:ext cx="3024335" cy="6491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717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Mont Bold"/>
                <a:ea typeface="Mont Bold"/>
                <a:cs typeface="Mont Bold"/>
              </a:rPr>
              <a:t>События недели</a:t>
            </a:r>
            <a:endParaRPr sz="2400">
              <a:solidFill>
                <a:schemeClr val="bg1"/>
              </a:solidFill>
              <a:latin typeface="Mont Regular"/>
              <a:ea typeface="Mont Regular"/>
              <a:cs typeface="Mont Regular"/>
            </a:endParaRPr>
          </a:p>
        </p:txBody>
      </p:sp>
      <p:sp>
        <p:nvSpPr>
          <p:cNvPr id="5" name="TextBox 3">
            <a:extLst xmlns:a="http://schemas.openxmlformats.org/drawingml/2006/main">
              <a:ext uri="{FF2B5EF4-FFF2-40B4-BE49-F238E27FC236}">
                <a16:creationId xmlns:a16="http://schemas.microsoft.com/office/drawing/2014/main" id="{FAF2621C-F974-42D4-A306-E9D8DFBA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0" y="6362700"/>
            <a:ext cx="1728216" cy="646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4289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Mont Bold"/>
                <a:ea typeface="Mont Bold"/>
                <a:cs typeface="Mont Bold"/>
              </a:rPr>
              <a:t>Новости</a:t>
            </a:r>
            <a:endParaRPr sz="2400">
              <a:solidFill>
                <a:schemeClr val="bg1"/>
              </a:solidFill>
              <a:latin typeface="Mont Regular"/>
              <a:ea typeface="Mont Regular"/>
              <a:cs typeface="Mont Regular"/>
            </a:endParaRPr>
          </a:p>
        </p:txBody>
      </p:sp>
      <p:sp>
        <p:nvSpPr>
          <p:cNvPr id="8" name="TextBox 3">
            <a:extLst xmlns:a="http://schemas.openxmlformats.org/drawingml/2006/main">
              <a:ext uri="{FF2B5EF4-FFF2-40B4-BE49-F238E27FC236}">
                <a16:creationId xmlns:a16="http://schemas.microsoft.com/office/drawing/2014/main" id="{505EE5E9-F480-4B73-B9BC-77CDDBAC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362700"/>
            <a:ext cx="1728216" cy="646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4289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Mont Bold"/>
                <a:ea typeface="Mont Bold"/>
                <a:cs typeface="Mont Bold"/>
              </a:rPr>
              <a:t>Важно!</a:t>
            </a:r>
            <a:endParaRPr sz="2400">
              <a:solidFill>
                <a:schemeClr val="bg1"/>
              </a:solidFill>
              <a:latin typeface="Mont Regular"/>
              <a:ea typeface="Mont Regular"/>
              <a:cs typeface="Mont Regular"/>
            </a:endParaRPr>
          </a:p>
        </p:txBody>
      </p:sp>
      <p:sp>
        <p:nvSpPr>
          <p:cNvPr id="9" name="TextBox 3">
            <a:extLst xmlns:a="http://schemas.openxmlformats.org/drawingml/2006/main">
              <a:ext uri="{FF2B5EF4-FFF2-40B4-BE49-F238E27FC236}">
                <a16:creationId xmlns:a16="http://schemas.microsoft.com/office/drawing/2014/main" id="{5C0E5750-6C1C-417B-AA37-26DCB175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25" y="21669338"/>
            <a:ext cx="2825838" cy="646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A5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Mont Bold"/>
                <a:ea typeface="Mont Bold"/>
                <a:cs typeface="Mont Bold"/>
              </a:rPr>
              <a:t>Дети говорят...</a:t>
            </a:r>
            <a:endParaRPr sz="2400">
              <a:solidFill>
                <a:schemeClr val="bg1"/>
              </a:solidFill>
              <a:latin typeface="Mont Regular"/>
              <a:ea typeface="Mont Regular"/>
              <a:cs typeface="Mon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88831865"/>
      </p:ext>
    </p:extLst>
  </p:cSld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Другая 1">
      <a:majorFont>
        <a:latin typeface="Mont Bold"/>
        <a:ea typeface="Arial"/>
        <a:cs typeface="Arial"/>
      </a:majorFont>
      <a:minorFont>
        <a:latin typeface="Mont Regular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2026-10-09T09:44:20.0290000Z</dcterms:created>
  <dcterms:modified xsi:type="dcterms:W3CDTF">2026-10-09T09:44:20.0290000Z</dcterms:modified>
</coreProperties>
</file>