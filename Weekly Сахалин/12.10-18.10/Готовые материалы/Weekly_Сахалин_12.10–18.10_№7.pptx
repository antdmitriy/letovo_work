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cf1c46b93b4195" /><Relationship Type="http://schemas.openxmlformats.org/officeDocument/2006/relationships/extended-properties" Target="/docProps/app.xml" Id="R72f6ddff705a49d9" /><Relationship Type="http://schemas.openxmlformats.org/officeDocument/2006/relationships/officeDocument" Target="/ppt/presentation.xml" Id="R0eca6cfe60914d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01499c644840b9"/>
  </p:sldMasterIdLst>
  <p:notesMasterIdLst>
    <p:notesMasterId xmlns:r="http://schemas.openxmlformats.org/officeDocument/2006/relationships" r:id="Rb82f58dc2d1644cc"/>
  </p:notesMasterIdLst>
  <p:sldIdLst>
    <p:sldId xmlns:r="http://schemas.openxmlformats.org/officeDocument/2006/relationships" id="256" r:id="R5409425f45ca47df"/>
  </p:sldIdLst>
  <p:sldSz cx="10799763" cy="18000663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2579BFC9-DFF7-CB57-E077-6E20FEF20DDB}">
  <a:tblStyle styleId="{2579BFC9-DFF7-CB57-E077-6E20FEF20DDB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2ae0169e82436e" /><Relationship Type="http://schemas.openxmlformats.org/officeDocument/2006/relationships/slideMaster" Target="/ppt/slideMasters/slideMaster1.xml" Id="R2a01499c644840b9" /><Relationship Type="http://schemas.openxmlformats.org/officeDocument/2006/relationships/notesMaster" Target="/ppt/notesMasters/notesMaster1.xml" Id="Rb82f58dc2d1644cc" /><Relationship Type="http://schemas.openxmlformats.org/officeDocument/2006/relationships/presProps" Target="/ppt/presProps.xml" Id="R57c6a76885a641d5" /><Relationship Type="http://schemas.openxmlformats.org/officeDocument/2006/relationships/viewProps" Target="/ppt/viewProps.xml" Id="Rb8a744167c9e4477" /><Relationship Type="http://schemas.openxmlformats.org/officeDocument/2006/relationships/tableStyles" Target="/ppt/tableStyles.xml" Id="Rf68363ed2f09461a" /><Relationship Type="http://schemas.openxmlformats.org/officeDocument/2006/relationships/slide" Target="/ppt/slides/slide1.xml" Id="R5409425f45ca47d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9b539b59fc44b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Другая 1">
      <a:majorFont>
        <a:latin typeface="Mont Bold"/>
        <a:ea typeface="Arial"/>
        <a:cs typeface="Arial"/>
      </a:majorFont>
      <a:minorFont>
        <a:latin typeface="Mont Regular"/>
        <a:ea typeface="Arial"/>
        <a:cs typeface="Arial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c10e9aa3ec4042" /><Relationship Type="http://schemas.openxmlformats.org/officeDocument/2006/relationships/notesMaster" Target="/ppt/notesMasters/notesMaster1.xml" Id="Rea2ec1ef100848f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общешкольный Weekly №7 за 12–18 октября 2026 (C:/Users/dmitriy.antonnikov/Yandex.Disk/Летово Джуниор/Сахалин 5-А/Weekly/12.10-18.10/Weekly 12.10-18.10 Выпуск №7.pdf), блок «5 параллель» на странице 4, Фестиваль талантов на странице 1, правило порядка на странице 2.</a:t>
            </a:r>
          </a:p>
          <a:p xmlns:a="http://schemas.openxmlformats.org/drawingml/2006/main">
            <a:r>
              <a:t>День словесности: текст и ссылка предоставлены наставником.</a:t>
            </a:r>
          </a:p>
          <a:p xmlns:a="http://schemas.openxmlformats.org/drawingml/2006/main">
            <a:r>
              <a:t>Дизайн и фотографии: C:/Users/dmitriy.antonnikov/Yandex.Disk/Летово Джуниор/Сахалин 5-А/Weekly/05.10-09.10/Weekly класса.pptx. Фотографии и фраза «Мы — одна команда!» сохранены из предыдущего выпуска и подписаны как фотоальбом класса.</a:t>
            </a:r>
          </a:p>
          <a:p xmlns:a="http://schemas.openxmlformats.org/drawingml/2006/main">
            <a:r>
              <a:t>Не включены служебные задачи сотрудников и занятия Canvas только для Родоса и Корсики.</a:t>
            </a:r>
          </a:p>
          <a:p xmlns:a="http://schemas.openxmlformats.org/drawingml/2006/main">
            <a:r>
              <a:t>Для пятых классов регистрация на Квантландию до 15 октября. Отбор 16 октября указан в источнике для четвёртых классов, поэтому не перенесён в календарь Сахалина.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52602ac401462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8012b79c71459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81260a1dfd4e7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e02042e66e494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6101cbd666468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b96fea831d49d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c99225b07140a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8c489b97c2469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12ff70fb14480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2f05303a4147b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a5016e0f764d50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0b0f6674c34885" /><Relationship Type="http://schemas.openxmlformats.org/officeDocument/2006/relationships/image" Target="/ppt/media/image.png" Id="Rc6f940552cff44e5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c5ad177db24059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943980914b46b3" /><Relationship Type="http://schemas.openxmlformats.org/officeDocument/2006/relationships/image" Target="/ppt/media/image2.png" Id="R4487f913aea44887" /><Relationship Type="http://schemas.openxmlformats.org/officeDocument/2006/relationships/image" Target="/ppt/media/image3.png" Id="R30b93875591c4e53" /></Relationships>
</file>

<file path=ppt/slideLayouts/slideLayout1.xml><?xml version="1.0" encoding="utf-8"?>
<p:sldLayout xmlns:p="http://schemas.openxmlformats.org/presentationml/2006/main" showMasterPhAnim="0" matchingName="" type="title" preserve="1" userDrawn="1">
  <p:cSld name="Титульны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C8EEA67-BCE2-4EAB-A4F7-E8523B8B72C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809982" y="2945943"/>
            <a:ext cx="9179799" cy="6266897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7100"/>
            </a:lvl1pPr>
          </a:lstStyle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D4B9FC1-B80E-4838-9D95-815E1870E55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49971" y="9454516"/>
            <a:ext cx="8099822" cy="434599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850"/>
            </a:lvl1pPr>
            <a:lvl2pPr marL="539999" indent="0" algn="ctr">
              <a:buNone/>
              <a:defRPr sz="2350"/>
            </a:lvl2pPr>
            <a:lvl3pPr marL="1079998" indent="0" algn="ctr">
              <a:buNone/>
              <a:defRPr sz="2150"/>
            </a:lvl3pPr>
            <a:lvl4pPr marL="1619997" indent="0" algn="ctr">
              <a:buNone/>
              <a:defRPr sz="1900"/>
            </a:lvl4pPr>
            <a:lvl5pPr marL="2159996" indent="0" algn="ctr">
              <a:buNone/>
              <a:defRPr sz="1900"/>
            </a:lvl5pPr>
            <a:lvl6pPr marL="2699995" indent="0" algn="ctr">
              <a:buNone/>
              <a:defRPr sz="1900"/>
            </a:lvl6pPr>
            <a:lvl7pPr marL="3239994" indent="0" algn="ctr">
              <a:buNone/>
              <a:defRPr sz="1900"/>
            </a:lvl7pPr>
            <a:lvl8pPr marL="3779992" indent="0" algn="ctr">
              <a:buNone/>
              <a:defRPr sz="1900"/>
            </a:lvl8pPr>
            <a:lvl9pPr marL="4319991" indent="0" algn="ctr">
              <a:buNone/>
              <a:defRPr sz="1900"/>
            </a:lvl9pPr>
          </a:lstStyle>
          <a:p xmlns:a="http://schemas.openxmlformats.org/drawingml/2006/main">
            <a:pPr>
              <a:buNone/>
            </a:pPr>
            <a:r>
              <a:t>Образец подзаголовка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22CE4A-9F8C-4081-96F1-0A6DA93D8F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07BC186-94A8-4A5F-91D0-910DB6410D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A5B7D6-92D6-421D-B0AE-E2D706EB42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showMasterPhAnim="0" matchingName="" type="obj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7383239-8087-47EF-BCF3-E85E88DE45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E1D751F-5B27-4F3B-957F-BD4A2B71EDB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9B41DCF-36F0-4BCD-8349-2452DD838F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2D37B0-2605-43BE-A466-752C1D37F93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6A11307-7B03-41BF-95F4-BB5B46177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showMasterPhAnim="0" matchingName="" type="secHead" preserve="1" userDrawn="1">
  <p:cSld name="Заголовок раздел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1DE6817-DAEF-4428-9316-0922CF085E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36859" y="4487671"/>
            <a:ext cx="9314796" cy="7487774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7100"/>
            </a:lvl1pPr>
          </a:lstStyle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D19D691-0815-434E-9669-287321493B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36859" y="12046282"/>
            <a:ext cx="9314796" cy="3937644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850">
                <a:solidFill>
                  <a:schemeClr val="tx1">
                    <a:tint val="82000"/>
                  </a:schemeClr>
                </a:solidFill>
              </a:defRPr>
            </a:lvl1pPr>
            <a:lvl2pPr marL="539999" indent="0">
              <a:buNone/>
              <a:defRPr sz="2350">
                <a:solidFill>
                  <a:schemeClr val="tx1">
                    <a:tint val="82000"/>
                  </a:schemeClr>
                </a:solidFill>
              </a:defRPr>
            </a:lvl2pPr>
            <a:lvl3pPr marL="1079998" indent="0">
              <a:buNone/>
              <a:defRPr sz="2150">
                <a:solidFill>
                  <a:schemeClr val="tx1">
                    <a:tint val="82000"/>
                  </a:schemeClr>
                </a:solidFill>
              </a:defRPr>
            </a:lvl3pPr>
            <a:lvl4pPr marL="1619997" indent="0">
              <a:buNone/>
              <a:defRPr sz="1900">
                <a:solidFill>
                  <a:schemeClr val="tx1">
                    <a:tint val="82000"/>
                  </a:schemeClr>
                </a:solidFill>
              </a:defRPr>
            </a:lvl4pPr>
            <a:lvl5pPr marL="2159996" indent="0">
              <a:buNone/>
              <a:defRPr sz="1900">
                <a:solidFill>
                  <a:schemeClr val="tx1">
                    <a:tint val="82000"/>
                  </a:schemeClr>
                </a:solidFill>
              </a:defRPr>
            </a:lvl5pPr>
            <a:lvl6pPr marL="2699995" indent="0">
              <a:buNone/>
              <a:defRPr sz="1900">
                <a:solidFill>
                  <a:schemeClr val="tx1">
                    <a:tint val="82000"/>
                  </a:schemeClr>
                </a:solidFill>
              </a:defRPr>
            </a:lvl6pPr>
            <a:lvl7pPr marL="3239994" indent="0">
              <a:buNone/>
              <a:defRPr sz="1900">
                <a:solidFill>
                  <a:schemeClr val="tx1">
                    <a:tint val="82000"/>
                  </a:schemeClr>
                </a:solidFill>
              </a:defRPr>
            </a:lvl7pPr>
            <a:lvl8pPr marL="3779992" indent="0">
              <a:buNone/>
              <a:defRPr sz="1900">
                <a:solidFill>
                  <a:schemeClr val="tx1">
                    <a:tint val="82000"/>
                  </a:schemeClr>
                </a:solidFill>
              </a:defRPr>
            </a:lvl8pPr>
            <a:lvl9pPr marL="4319991" indent="0">
              <a:buNone/>
              <a:defRPr sz="19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B201B83-CEC4-49EC-B2CD-CDD91D8B15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E4342-F45C-404D-96F5-F203960F1FB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4BCE40-9470-464A-87F3-B370700A33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showMasterPhAnim="0" matchingName="" type="twoObj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39FE4A7-7F78-434C-9485-B27DEA5C3B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6FB692B-1EA4-4DA7-A01D-EE215F14A70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742484" y="4791843"/>
            <a:ext cx="4589899" cy="1142125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1049709-8C83-4A58-B187-D35D2F91155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5467380" y="4791843"/>
            <a:ext cx="4589899" cy="1142125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F89CA90-5536-4CC0-B187-83AB97BB89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88AFB6-A19D-43FE-9EA3-AA70572C55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E68ED3-C74C-426E-8742-E850F763CD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showMasterPhAnim="0" matchingName="" type="twoTxTwoObj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EF5479-38E8-47FC-B372-645E2764E9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3890" y="958373"/>
            <a:ext cx="9314796" cy="347929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21EF05-1EEA-4493-AA04-FB2A966493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43892" y="4412664"/>
            <a:ext cx="4568805" cy="2162578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850" b="1"/>
            </a:lvl1pPr>
            <a:lvl2pPr marL="539999" indent="0">
              <a:buNone/>
              <a:defRPr sz="2350" b="1"/>
            </a:lvl2pPr>
            <a:lvl3pPr marL="1079998" indent="0">
              <a:buNone/>
              <a:defRPr sz="2150" b="1"/>
            </a:lvl3pPr>
            <a:lvl4pPr marL="1619997" indent="0">
              <a:buNone/>
              <a:defRPr sz="1900" b="1"/>
            </a:lvl4pPr>
            <a:lvl5pPr marL="2159996" indent="0">
              <a:buNone/>
              <a:defRPr sz="1900" b="1"/>
            </a:lvl5pPr>
            <a:lvl6pPr marL="2699995" indent="0">
              <a:buNone/>
              <a:defRPr sz="1900" b="1"/>
            </a:lvl6pPr>
            <a:lvl7pPr marL="3239994" indent="0">
              <a:buNone/>
              <a:defRPr sz="1900" b="1"/>
            </a:lvl7pPr>
            <a:lvl8pPr marL="3779992" indent="0">
              <a:buNone/>
              <a:defRPr sz="1900" b="1"/>
            </a:lvl8pPr>
            <a:lvl9pPr marL="4319991" indent="0">
              <a:buNone/>
              <a:defRPr sz="19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4C31631-65B8-43EA-996E-36EBF9BF3CE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743892" y="6575242"/>
            <a:ext cx="4568805" cy="967119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DDE3077-EC92-486A-B860-01C3022141D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467381" y="4412664"/>
            <a:ext cx="4591306" cy="2162578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850" b="1"/>
            </a:lvl1pPr>
            <a:lvl2pPr marL="539999" indent="0">
              <a:buNone/>
              <a:defRPr sz="2350" b="1"/>
            </a:lvl2pPr>
            <a:lvl3pPr marL="1079998" indent="0">
              <a:buNone/>
              <a:defRPr sz="2150" b="1"/>
            </a:lvl3pPr>
            <a:lvl4pPr marL="1619997" indent="0">
              <a:buNone/>
              <a:defRPr sz="1900" b="1"/>
            </a:lvl4pPr>
            <a:lvl5pPr marL="2159996" indent="0">
              <a:buNone/>
              <a:defRPr sz="1900" b="1"/>
            </a:lvl5pPr>
            <a:lvl6pPr marL="2699995" indent="0">
              <a:buNone/>
              <a:defRPr sz="1900" b="1"/>
            </a:lvl6pPr>
            <a:lvl7pPr marL="3239994" indent="0">
              <a:buNone/>
              <a:defRPr sz="1900" b="1"/>
            </a:lvl7pPr>
            <a:lvl8pPr marL="3779992" indent="0">
              <a:buNone/>
              <a:defRPr sz="1900" b="1"/>
            </a:lvl8pPr>
            <a:lvl9pPr marL="4319991" indent="0">
              <a:buNone/>
              <a:defRPr sz="19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93AE6E6-5490-45AE-BE5D-DE2DF55F4D83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5467381" y="6575242"/>
            <a:ext cx="4591306" cy="967119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73CED8B-A1EB-4B88-A8DA-CDD02B5244D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90BC964-51CB-4415-8EDE-EFF0DAE2127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C20B92D-3380-48EC-B62D-366B653BC74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showMasterPhAnim="0" matchingName="" type="titleOnly" preserve="1" userDrawn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1E4F2C-F95F-4443-B58F-2DF071C8E5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0464107-EEB3-4A90-B000-07F0EDCC02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B0A48D5D-F4D7-47FF-B5F8-72275B2DA4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08A7A88-75E5-4C1B-97BE-D04013D1CC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showMasterPhAnim="0" matchingName="" type="blank" preserve="1" userDrawn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CB742E7-C225-4347-8B70-F41E55A732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D71DA1-8B8C-4AF6-ABC6-5726AD87D7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A44E640-15E3-4231-83D9-A02C12CDE3C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showMasterPhAnim="0" matchingName="" type="objTx" preserve="1" userDrawn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832F1B-05CF-4712-8F27-44660E203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3890" y="1200044"/>
            <a:ext cx="3483205" cy="4200155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800"/>
            </a:lvl1pPr>
          </a:lstStyle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7BB35D2-09B8-493B-8A8C-B75B2780B1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91306" y="2591766"/>
            <a:ext cx="5467380" cy="1279213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800"/>
            </a:lvl1pPr>
            <a:lvl2pPr>
              <a:buNone/>
              <a:defRPr sz="3300"/>
            </a:lvl2pPr>
            <a:lvl3pPr>
              <a:buNone/>
              <a:defRPr sz="2850"/>
            </a:lvl3pPr>
            <a:lvl4pPr>
              <a:buNone/>
              <a:defRPr sz="2350"/>
            </a:lvl4pPr>
            <a:lvl5pPr>
              <a:buNone/>
              <a:defRPr sz="2350"/>
            </a:lvl5pPr>
            <a:lvl6pPr>
              <a:buNone/>
              <a:defRPr sz="2350"/>
            </a:lvl6pPr>
            <a:lvl7pPr>
              <a:buNone/>
              <a:defRPr sz="2350"/>
            </a:lvl7pPr>
            <a:lvl8pPr>
              <a:buNone/>
              <a:defRPr sz="2350"/>
            </a:lvl8pPr>
            <a:lvl9pPr>
              <a:buNone/>
              <a:defRPr sz="235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3AB13F7-3429-4081-8768-A5CCE0D397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743890" y="5400199"/>
            <a:ext cx="3483205" cy="10004536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900"/>
            </a:lvl1pPr>
            <a:lvl2pPr marL="539999" indent="0">
              <a:buNone/>
              <a:defRPr sz="1650"/>
            </a:lvl2pPr>
            <a:lvl3pPr marL="1079998" indent="0">
              <a:buNone/>
              <a:defRPr sz="1400"/>
            </a:lvl3pPr>
            <a:lvl4pPr marL="1619997" indent="0">
              <a:buNone/>
              <a:defRPr sz="1200"/>
            </a:lvl4pPr>
            <a:lvl5pPr marL="2159996" indent="0">
              <a:buNone/>
              <a:defRPr sz="1200"/>
            </a:lvl5pPr>
            <a:lvl6pPr marL="2699995" indent="0">
              <a:buNone/>
              <a:defRPr sz="1200"/>
            </a:lvl6pPr>
            <a:lvl7pPr marL="3239994" indent="0">
              <a:buNone/>
              <a:defRPr sz="1200"/>
            </a:lvl7pPr>
            <a:lvl8pPr marL="3779992" indent="0">
              <a:buNone/>
              <a:defRPr sz="1200"/>
            </a:lvl8pPr>
            <a:lvl9pPr marL="4319991" indent="0">
              <a:buNone/>
              <a:defRPr sz="12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051DF29-E237-434E-BEC5-7D0DBD8AB1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A183331-32A7-4DD8-A778-8961694E60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43EC43C-D241-4FB0-A4C6-CCA9D474DC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showMasterPhAnim="0" matchingName="" type="picTx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0489C0-CC26-45BD-BAB0-E9B32B85B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3890" y="1200044"/>
            <a:ext cx="3483205" cy="4200155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800"/>
            </a:lvl1pPr>
          </a:lstStyle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218FE92-977E-4F30-BD35-F14FEBE5A35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4591306" y="2591766"/>
            <a:ext cx="5467380" cy="12792138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800"/>
            </a:lvl1pPr>
            <a:lvl2pPr marL="539999" indent="0">
              <a:buNone/>
              <a:defRPr sz="3300"/>
            </a:lvl2pPr>
            <a:lvl3pPr marL="1079998" indent="0">
              <a:buNone/>
              <a:defRPr sz="2850"/>
            </a:lvl3pPr>
            <a:lvl4pPr marL="1619997" indent="0">
              <a:buNone/>
              <a:defRPr sz="2350"/>
            </a:lvl4pPr>
            <a:lvl5pPr marL="2159996" indent="0">
              <a:buNone/>
              <a:defRPr sz="2350"/>
            </a:lvl5pPr>
            <a:lvl6pPr marL="2699995" indent="0">
              <a:buNone/>
              <a:defRPr sz="2350"/>
            </a:lvl6pPr>
            <a:lvl7pPr marL="3239994" indent="0">
              <a:buNone/>
              <a:defRPr sz="2350"/>
            </a:lvl7pPr>
            <a:lvl8pPr marL="3779992" indent="0">
              <a:buNone/>
              <a:defRPr sz="2350"/>
            </a:lvl8pPr>
            <a:lvl9pPr marL="4319991" indent="0">
              <a:buNone/>
              <a:defRPr sz="2350"/>
            </a:lvl9pPr>
          </a:lstStyle>
          <a:p xmlns:a="http://schemas.openxmlformats.org/drawingml/2006/main">
            <a:pPr>
              <a:buNone/>
            </a:pPr>
            <a:r>
              <a:t>Вставка рисунка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45794D7-B7AC-4877-9222-D67C4338B09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743890" y="5400199"/>
            <a:ext cx="3483205" cy="10004536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900"/>
            </a:lvl1pPr>
            <a:lvl2pPr marL="539999" indent="0">
              <a:buNone/>
              <a:defRPr sz="1650"/>
            </a:lvl2pPr>
            <a:lvl3pPr marL="1079998" indent="0">
              <a:buNone/>
              <a:defRPr sz="1400"/>
            </a:lvl3pPr>
            <a:lvl4pPr marL="1619997" indent="0">
              <a:buNone/>
              <a:defRPr sz="1200"/>
            </a:lvl4pPr>
            <a:lvl5pPr marL="2159996" indent="0">
              <a:buNone/>
              <a:defRPr sz="1200"/>
            </a:lvl5pPr>
            <a:lvl6pPr marL="2699995" indent="0">
              <a:buNone/>
              <a:defRPr sz="1200"/>
            </a:lvl6pPr>
            <a:lvl7pPr marL="3239994" indent="0">
              <a:buNone/>
              <a:defRPr sz="1200"/>
            </a:lvl7pPr>
            <a:lvl8pPr marL="3779992" indent="0">
              <a:buNone/>
              <a:defRPr sz="1200"/>
            </a:lvl8pPr>
            <a:lvl9pPr marL="4319991" indent="0">
              <a:buNone/>
              <a:defRPr sz="12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851FD54-CF53-4B7F-9335-81513B8937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F4A2BE3-A799-48A8-BE14-06FB919AB4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0556FDE-AA26-4454-AAC4-1226460CEA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showMasterPhAnim="0" matchingName="" type="vertTx" preserve="1" userDrawn="1">
  <p:cSld name="Заголовок и вертикальный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33648E-3181-4DD5-B7D0-D6D2D4C1E0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18D4B2F-5287-42BE-88BE-0C0D26DE00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8700A06-CC01-4DE7-91CC-6713D9D4694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3C0847E-90D9-4A40-B2C6-4B349383DF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E7ACF09-F468-4784-9B92-958D745134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showMasterPhAnim="0" matchingName="" type="vertTitleAndTx" preserve="1" userDrawn="1">
  <p:cSld name="Вертикальный заголовок и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9819703-62F9-463A-B073-07CB171315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728581" y="958369"/>
            <a:ext cx="2328699" cy="15254730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5FD53CF-645E-4C4C-98C9-B9FE82D933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42484" y="958369"/>
            <a:ext cx="6851100" cy="15254730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699EB5-7A7F-40E9-956E-5756140A32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4A5D823-3D46-44FA-AC9B-D33CD04148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2888BE7-4958-4BA9-891D-F6C1BC4595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showMasterPhAnim="0" matchingName="" preserve="0" userDrawn="1">
  <p:cSld name="1_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3B51C205-85B1-405A-9C3D-02FF100A4208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469990" y="13386078"/>
            <a:ext cx="2471330" cy="253055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2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EF9989C6-68BA-4CAD-96E5-E13A07DA29D3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185160" y="13386078"/>
            <a:ext cx="2453640" cy="253055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9" name="Овал 15">
            <a:extLst xmlns:a="http://schemas.openxmlformats.org/drawingml/2006/main">
              <a:ext uri="{FF2B5EF4-FFF2-40B4-BE49-F238E27FC236}">
                <a16:creationId xmlns:a16="http://schemas.microsoft.com/office/drawing/2014/main" id="{924D013C-8570-456F-8ED2-A0E6D84F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7392" y="16883595"/>
            <a:ext cx="16517973" cy="165179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CF4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10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60B98837-6170-4C96-9C67-F85A4B3DB0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f940552cff44e5"/>
          <a:stretch xmlns:a="http://schemas.openxmlformats.org/drawingml/2006/main"/>
        </p:blipFill>
        <p:spPr>
          <a:xfrm xmlns:a="http://schemas.openxmlformats.org/drawingml/2006/main">
            <a:off x="1" y="8799"/>
            <a:ext cx="10799760" cy="1690892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3.xml><?xml version="1.0" encoding="utf-8"?>
<p:sldLayout xmlns:p="http://schemas.openxmlformats.org/presentationml/2006/main" showMasterPhAnim="0" matchingName="" preserve="1" userDrawn="1">
  <p:cSld name="2_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35FB9A3E-7DA1-4CA0-B54C-81B1F5AAC203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469990" y="10444138"/>
            <a:ext cx="5168810" cy="253055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1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46A1C0B4-544B-44E6-9483-05D6FC0F01BC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469990" y="14069716"/>
            <a:ext cx="2471330" cy="253055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2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A87DB5DD-6334-4328-8717-14D50076DD4E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185160" y="14069716"/>
            <a:ext cx="2453640" cy="253055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2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AE273C37-106E-49DD-8E27-58BC13EBD11B}"/>
              </a:ext>
            </a:extLst>
          </p:cNvPr>
          <p:cNvSpPr>
            <a:spLocks xmlns:a="http://schemas.openxmlformats.org/drawingml/2006/main" noGrp="1"/>
          </p:cNvSpPr>
          <p:nvPr>
            <p:ph type="pic" idx="13"/>
          </p:nvPr>
        </p:nvSpPr>
        <p:spPr>
          <a:xfrm xmlns:a="http://schemas.openxmlformats.org/drawingml/2006/main">
            <a:off x="5882640" y="14069716"/>
            <a:ext cx="2453640" cy="253055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showMasterPhAnim="0" matchingName="" preserve="1" userDrawn="1">
  <p:cSld name="1_Титульны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F08572D4-4FAB-4615-B5C8-C12AD85B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27997" y="0"/>
            <a:ext cx="10927760" cy="180006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389"/>
          </a:solidFill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800"/>
          </a:p>
        </p:txBody>
      </p:sp>
      <p:sp>
        <p:nvSpPr>
          <p:cNvPr id="15" name="Овал 14">
            <a:extLst xmlns:a="http://schemas.openxmlformats.org/drawingml/2006/main">
              <a:ext uri="{FF2B5EF4-FFF2-40B4-BE49-F238E27FC236}">
                <a16:creationId xmlns:a16="http://schemas.microsoft.com/office/drawing/2014/main" id="{8264DD7E-1BDE-40E5-8A00-56B0315C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925" y="8700322"/>
            <a:ext cx="17039626" cy="15975587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800"/>
          </a:p>
        </p:txBody>
      </p:sp>
      <p:pic>
        <p:nvPicPr>
          <p:cNvPr id="8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15DCB2A7-9DE2-4F1F-A0DB-6615AA6279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87f913aea44887"/>
          <a:stretch xmlns:a="http://schemas.openxmlformats.org/drawingml/2006/main"/>
        </p:blipFill>
        <p:spPr>
          <a:xfrm xmlns:a="http://schemas.openxmlformats.org/drawingml/2006/main">
            <a:off x="8207823" y="517254"/>
            <a:ext cx="1855959" cy="2615484"/>
          </a:xfrm>
          <a:prstGeom xmlns:a="http://schemas.openxmlformats.org/drawingml/2006/main" prst="rect">
            <a:avLst/>
          </a:prstGeom>
        </p:spPr>
      </p:pic>
      <p:sp>
        <p:nvSpPr>
          <p:cNvPr id="9" name="Заголовок 30">
            <a:extLst xmlns:a="http://schemas.openxmlformats.org/drawingml/2006/main">
              <a:ext uri="{FF2B5EF4-FFF2-40B4-BE49-F238E27FC236}">
                <a16:creationId xmlns:a16="http://schemas.microsoft.com/office/drawing/2014/main" id="{857600EA-25CC-445F-842F-E033ED0D80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25759" y="3829879"/>
            <a:ext cx="7977378" cy="22111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5400" b="1">
                <a:solidFill>
                  <a:schemeClr val="bg1"/>
                </a:solidFill>
                <a:latin typeface="Mont Bold"/>
                <a:ea typeface="Mont Bold"/>
                <a:cs typeface="Mont Bold"/>
              </a:defRPr>
            </a:lvl1pPr>
          </a:lstStyle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10" name="Текст 69">
            <a:extLst xmlns:a="http://schemas.openxmlformats.org/drawingml/2006/main">
              <a:ext uri="{FF2B5EF4-FFF2-40B4-BE49-F238E27FC236}">
                <a16:creationId xmlns:a16="http://schemas.microsoft.com/office/drawing/2014/main" id="{486AE910-E69E-44DA-8EC8-598FBDDD66EE}"/>
              </a:ext>
            </a:extLst>
          </p:cNvPr>
          <p:cNvSpPr>
            <a:spLocks xmlns:a="http://schemas.openxmlformats.org/drawingml/2006/main" noGrp="1"/>
          </p:cNvSpPr>
          <p:nvPr>
            <p:ph type="body" idx="16" hasCustomPrompt="1"/>
          </p:nvPr>
        </p:nvSpPr>
        <p:spPr>
          <a:xfrm xmlns:a="http://schemas.openxmlformats.org/drawingml/2006/main">
            <a:off x="925759" y="6158539"/>
            <a:ext cx="5298107" cy="5796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accent2"/>
                </a:solidFill>
                <a:latin typeface="Mont Regular"/>
                <a:ea typeface="Mont Regular"/>
                <a:cs typeface="Mont Regular"/>
              </a:defRPr>
            </a:lvl1pPr>
          </a:lstStyle>
          <a:p xmlns:a="http://schemas.openxmlformats.org/drawingml/2006/main">
            <a:pPr lvl="0">
              <a:buNone/>
            </a:pPr>
            <a:r>
              <a:t>Номер</a:t>
            </a:r>
            <a:r>
              <a:t>/</a:t>
            </a:r>
            <a:r>
              <a:t>дата</a:t>
            </a:r>
            <a:endParaRPr/>
          </a:p>
        </p:txBody>
      </p:sp>
      <p:pic>
        <p:nvPicPr>
          <p:cNvPr id="14" name="Рисунок 13">
            <a:extLst xmlns:a="http://schemas.openxmlformats.org/drawingml/2006/main">
              <a:ext uri="{FF2B5EF4-FFF2-40B4-BE49-F238E27FC236}">
                <a16:creationId xmlns:a16="http://schemas.microsoft.com/office/drawing/2014/main" id="{2008B534-EA27-466B-932C-05ED1EE879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b93875591c4e53"/>
          <a:stretch xmlns:a="http://schemas.openxmlformats.org/drawingml/2006/main"/>
        </p:blipFill>
        <p:spPr>
          <a:xfrm xmlns:a="http://schemas.openxmlformats.org/drawingml/2006/main" rot="559302" flipH="1">
            <a:off x="3148912" y="9177882"/>
            <a:ext cx="7455836" cy="6990257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894936d21cd4b9e" /><Relationship Type="http://schemas.openxmlformats.org/officeDocument/2006/relationships/slideLayout" Target="/ppt/slideLayouts/slideLayout1.xml" Id="R4a6905b5df764c7b" /><Relationship Type="http://schemas.openxmlformats.org/officeDocument/2006/relationships/slideLayout" Target="/ppt/slideLayouts/slideLayout2.xml" Id="R917c1b2f39814ad9" /><Relationship Type="http://schemas.openxmlformats.org/officeDocument/2006/relationships/slideLayout" Target="/ppt/slideLayouts/slideLayout3.xml" Id="Ra4745fde65e14493" /><Relationship Type="http://schemas.openxmlformats.org/officeDocument/2006/relationships/slideLayout" Target="/ppt/slideLayouts/slideLayout4.xml" Id="R5b04bccdf06e402f" /><Relationship Type="http://schemas.openxmlformats.org/officeDocument/2006/relationships/slideLayout" Target="/ppt/slideLayouts/slideLayout5.xml" Id="R98fafa26533e4513" /><Relationship Type="http://schemas.openxmlformats.org/officeDocument/2006/relationships/slideLayout" Target="/ppt/slideLayouts/slideLayout6.xml" Id="R7f6b24352ead4648" /><Relationship Type="http://schemas.openxmlformats.org/officeDocument/2006/relationships/slideLayout" Target="/ppt/slideLayouts/slideLayout7.xml" Id="R81944bdb11614e9a" /><Relationship Type="http://schemas.openxmlformats.org/officeDocument/2006/relationships/slideLayout" Target="/ppt/slideLayouts/slideLayout8.xml" Id="Re08b61e498ec4d65" /><Relationship Type="http://schemas.openxmlformats.org/officeDocument/2006/relationships/slideLayout" Target="/ppt/slideLayouts/slideLayout9.xml" Id="R53be43831db047ba" /><Relationship Type="http://schemas.openxmlformats.org/officeDocument/2006/relationships/slideLayout" Target="/ppt/slideLayouts/slideLayout10.xml" Id="Rcdfe5eb8d03343e0" /><Relationship Type="http://schemas.openxmlformats.org/officeDocument/2006/relationships/slideLayout" Target="/ppt/slideLayouts/slideLayout11.xml" Id="R31f398e6ca864b23" /><Relationship Type="http://schemas.openxmlformats.org/officeDocument/2006/relationships/slideLayout" Target="/ppt/slideLayouts/slideLayout12.xml" Id="R6ac87c79b3594edd" /><Relationship Type="http://schemas.openxmlformats.org/officeDocument/2006/relationships/slideLayout" Target="/ppt/slideLayouts/slideLayout13.xml" Id="R25f32eee467040e9" /><Relationship Type="http://schemas.openxmlformats.org/officeDocument/2006/relationships/slideLayout" Target="/ppt/slideLayouts/slideLayout14.xml" Id="R984488f8235e417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1F39269-60D0-4D7E-A5BB-8C14DECA05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484" y="958373"/>
            <a:ext cx="9314796" cy="34792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BE7A50A-528B-4688-94EF-598F30D7DE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42484" y="4791843"/>
            <a:ext cx="9314796" cy="114212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1A582F8-D28C-44D7-B0BB-261E4F58350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742484" y="16683952"/>
            <a:ext cx="2429947" cy="95836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5D24519-67DE-45BB-8BB9-C0C29DD2F45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577422" y="16683952"/>
            <a:ext cx="3644920" cy="95836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C3F82A0-DDC2-46C4-AFC2-D87DD0A3DFD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7627332" y="16683952"/>
            <a:ext cx="2429947" cy="95836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a6905b5df764c7b"/>
    <p:sldLayoutId xmlns:r="http://schemas.openxmlformats.org/officeDocument/2006/relationships" id="2147483650" r:id="R917c1b2f39814ad9"/>
    <p:sldLayoutId xmlns:r="http://schemas.openxmlformats.org/officeDocument/2006/relationships" id="2147483651" r:id="Ra4745fde65e14493"/>
    <p:sldLayoutId xmlns:r="http://schemas.openxmlformats.org/officeDocument/2006/relationships" id="2147483652" r:id="R5b04bccdf06e402f"/>
    <p:sldLayoutId xmlns:r="http://schemas.openxmlformats.org/officeDocument/2006/relationships" id="2147483653" r:id="R98fafa26533e4513"/>
    <p:sldLayoutId xmlns:r="http://schemas.openxmlformats.org/officeDocument/2006/relationships" id="2147483654" r:id="R7f6b24352ead4648"/>
    <p:sldLayoutId xmlns:r="http://schemas.openxmlformats.org/officeDocument/2006/relationships" id="2147483655" r:id="R81944bdb11614e9a"/>
    <p:sldLayoutId xmlns:r="http://schemas.openxmlformats.org/officeDocument/2006/relationships" id="2147483656" r:id="Re08b61e498ec4d65"/>
    <p:sldLayoutId xmlns:r="http://schemas.openxmlformats.org/officeDocument/2006/relationships" id="2147483657" r:id="R53be43831db047ba"/>
    <p:sldLayoutId xmlns:r="http://schemas.openxmlformats.org/officeDocument/2006/relationships" id="2147483658" r:id="Rcdfe5eb8d03343e0"/>
    <p:sldLayoutId xmlns:r="http://schemas.openxmlformats.org/officeDocument/2006/relationships" id="2147483659" r:id="R31f398e6ca864b23"/>
    <p:sldLayoutId xmlns:r="http://schemas.openxmlformats.org/officeDocument/2006/relationships" id="2147483660" r:id="R6ac87c79b3594edd"/>
    <p:sldLayoutId xmlns:r="http://schemas.openxmlformats.org/officeDocument/2006/relationships" id="2147483661" r:id="R25f32eee467040e9"/>
    <p:sldLayoutId xmlns:r="http://schemas.openxmlformats.org/officeDocument/2006/relationships" id="2147483662" r:id="R984488f8235e4173"/>
  </p:sldLayoutIdLst>
  <p:txStyles>
    <p:titleStyle>
      <a:lvl1pPr xmlns:a="http://schemas.openxmlformats.org/drawingml/2006/main" algn="l" defTabSz="1079998">
        <a:lnSpc>
          <a:spcPct val="90000"/>
        </a:lnSpc>
        <a:spcBef>
          <a:spcPts val="0"/>
        </a:spcBef>
        <a:buNone/>
        <a:defRPr sz="5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69999" indent="-269999" algn="l" defTabSz="1079998">
        <a:lnSpc>
          <a:spcPct val="90000"/>
        </a:lnSpc>
        <a:spcBef>
          <a:spcPts val="1181"/>
        </a:spcBef>
        <a:buFont typeface="Arial"/>
        <a:buChar char="•"/>
        <a:defRPr sz="33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809998" indent="-269999" algn="l" defTabSz="1079998">
        <a:lnSpc>
          <a:spcPct val="90000"/>
        </a:lnSpc>
        <a:spcBef>
          <a:spcPts val="591"/>
        </a:spcBef>
        <a:buFont typeface="Arial"/>
        <a:buChar char="•"/>
        <a:defRPr sz="285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349997" indent="-269999" algn="l" defTabSz="1079998">
        <a:lnSpc>
          <a:spcPct val="90000"/>
        </a:lnSpc>
        <a:spcBef>
          <a:spcPts val="591"/>
        </a:spcBef>
        <a:buFont typeface="Arial"/>
        <a:buChar char="•"/>
        <a:defRPr sz="235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889996" indent="-269999" algn="l" defTabSz="1079998">
        <a:lnSpc>
          <a:spcPct val="90000"/>
        </a:lnSpc>
        <a:spcBef>
          <a:spcPts val="591"/>
        </a:spcBef>
        <a:buFont typeface="Arial"/>
        <a:buChar char="•"/>
        <a:defRPr sz="215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429995" indent="-269999" algn="l" defTabSz="1079998">
        <a:lnSpc>
          <a:spcPct val="90000"/>
        </a:lnSpc>
        <a:spcBef>
          <a:spcPts val="591"/>
        </a:spcBef>
        <a:buFont typeface="Arial"/>
        <a:buChar char="•"/>
        <a:defRPr sz="215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969994" indent="-269999" algn="l" defTabSz="1079998">
        <a:lnSpc>
          <a:spcPct val="90000"/>
        </a:lnSpc>
        <a:spcBef>
          <a:spcPts val="591"/>
        </a:spcBef>
        <a:buFont typeface="Arial"/>
        <a:buChar char="•"/>
        <a:defRPr sz="215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3509993" indent="-269999" algn="l" defTabSz="1079998">
        <a:lnSpc>
          <a:spcPct val="90000"/>
        </a:lnSpc>
        <a:spcBef>
          <a:spcPts val="591"/>
        </a:spcBef>
        <a:buFont typeface="Arial"/>
        <a:buChar char="•"/>
        <a:defRPr sz="215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4049992" indent="-269999" algn="l" defTabSz="1079998">
        <a:lnSpc>
          <a:spcPct val="90000"/>
        </a:lnSpc>
        <a:spcBef>
          <a:spcPts val="591"/>
        </a:spcBef>
        <a:buFont typeface="Arial"/>
        <a:buChar char="•"/>
        <a:defRPr sz="215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4589991" indent="-269999" algn="l" defTabSz="1079998">
        <a:lnSpc>
          <a:spcPct val="90000"/>
        </a:lnSpc>
        <a:spcBef>
          <a:spcPts val="591"/>
        </a:spcBef>
        <a:buFont typeface="Arial"/>
        <a:buChar char="•"/>
        <a:defRPr sz="215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1079998">
        <a:buNone/>
        <a:defRPr sz="215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539999" algn="l" defTabSz="1079998">
        <a:buNone/>
        <a:defRPr sz="215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079998" algn="l" defTabSz="1079998">
        <a:buNone/>
        <a:defRPr sz="215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19997" algn="l" defTabSz="1079998">
        <a:buNone/>
        <a:defRPr sz="215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159996" algn="l" defTabSz="1079998">
        <a:buNone/>
        <a:defRPr sz="215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699995" algn="l" defTabSz="1079998">
        <a:buNone/>
        <a:defRPr sz="215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3239994" algn="l" defTabSz="1079998">
        <a:buNone/>
        <a:defRPr sz="215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779992" algn="l" defTabSz="1079998">
        <a:buNone/>
        <a:defRPr sz="215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4319991" algn="l" defTabSz="1079998">
        <a:buNone/>
        <a:defRPr sz="215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Другая 1">
      <a:majorFont>
        <a:latin typeface="Mont Bold"/>
        <a:ea typeface="Arial"/>
        <a:cs typeface="Arial"/>
      </a:majorFont>
      <a:minorFont>
        <a:latin typeface="Mont Regular"/>
        <a:ea typeface="Arial"/>
        <a:cs typeface="Arial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e9ba147d61724bb1" /><Relationship Type="http://schemas.openxmlformats.org/officeDocument/2006/relationships/image" Target="/ppt/media/image4.png" Id="Rc386601998564b48" /><Relationship Type="http://schemas.openxmlformats.org/officeDocument/2006/relationships/hyperlink" Target="https://disk.360.yandex.ru/d/rvwgAOoSXEkN-A" TargetMode="External" Id="R48bc5ed42d784ba5" /><Relationship Type="http://schemas.openxmlformats.org/officeDocument/2006/relationships/image" Target="/ppt/media/image.jpeg" Id="R8529966345f34616" /><Relationship Type="http://schemas.openxmlformats.org/officeDocument/2006/relationships/image" Target="/ppt/media/image2.jpeg" Id="Rece0d713958c449c" /><Relationship Type="http://schemas.openxmlformats.org/officeDocument/2006/relationships/hyperlink" Target="https://disk.360.yandex.ru/i/K4nTqIMp9uGsPw" TargetMode="External" Id="R86f2d1291bc04592" /><Relationship Type="http://schemas.openxmlformats.org/officeDocument/2006/relationships/hyperlink" Target="https://disk.360.yandex.ru/i/QSQraJQ2j3GysQ" TargetMode="External" Id="Re9e4ea2ad9824f4f" /><Relationship Type="http://schemas.openxmlformats.org/officeDocument/2006/relationships/hyperlink" Target="https://disk.360.yandex.ru/i/WQ2zoY3-nO5BrA" TargetMode="External" Id="Rd59f10cf8fc84c11" /><Relationship Type="http://schemas.openxmlformats.org/officeDocument/2006/relationships/hyperlink" Target="https://disk.360.yandex.ru/i/dMXzCPdA1nymKw" TargetMode="External" Id="R80a9e855531841c1" /><Relationship Type="http://schemas.openxmlformats.org/officeDocument/2006/relationships/hyperlink" Target="https://vos.olimpiada.ru/2026/school" TargetMode="External" Id="R8ef33815466b4ffe" /><Relationship Type="http://schemas.openxmlformats.org/officeDocument/2006/relationships/hyperlink" Target="https://school.mos.ru/help/instructions/olympiad/acquaintance-olympiad/olympic-student/" TargetMode="External" Id="R4c26a220c35d46db" /><Relationship Type="http://schemas.openxmlformats.org/officeDocument/2006/relationships/hyperlink" Target="https://disk.360.yandex.ru/i/mPQPbzwXr1ooeg" TargetMode="External" Id="R10cf411c83d0499d" /><Relationship Type="http://schemas.openxmlformats.org/officeDocument/2006/relationships/hyperlink" Target="https://forms.yandex.ru/u/6ac78796eb6146083a4951ee" TargetMode="External" Id="R361e225a4e924226" /><Relationship Type="http://schemas.openxmlformats.org/officeDocument/2006/relationships/notesSlide" Target="/ppt/notesSlides/notesSlide1.xml" Id="R15ee760c7da04b3d" /></Relationships>
</file>

<file path=ppt/slides/slide1.xml><?xml version="1.0" encoding="utf-8"?>
<p:sld xmlns:p="http://schemas.openxmlformats.org/presentationml/2006/main" show="1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FDDA8EBF-CCF1-4B40-9B11-CFD1A6BF63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86601998564b48"/>
          <a:stretch xmlns:a="http://schemas.openxmlformats.org/drawingml/2006/main"/>
        </p:blipFill>
        <p:spPr>
          <a:xfrm xmlns:a="http://schemas.openxmlformats.org/drawingml/2006/main" flipH="1">
            <a:off x="7610475" y="13068300"/>
            <a:ext cx="2343150" cy="2343150"/>
          </a:xfrm>
          <a:prstGeom xmlns:a="http://schemas.openxmlformats.org/drawingml/2006/main" prst="rect">
            <a:avLst/>
          </a:prstGeom>
        </p:spPr>
      </p:pic>
      <p:graphicFrame>
        <p:nvGraphicFramePr>
          <p:cNvPr id="1355349217" name="Таблица 8">
            <a:extLst xmlns:a="http://schemas.openxmlformats.org/drawingml/2006/main">
              <a:ext uri="{FF2B5EF4-FFF2-40B4-BE49-F238E27FC236}">
                <a16:creationId xmlns:a16="http://schemas.microsoft.com/office/drawing/2014/main" id="{3FC225F2-16E1-4C59-8A89-F7E3CE03A4A6}"/>
              </a:ext>
            </a:extLst>
          </p:cNvPr>
          <p:cNvGraphicFramePr/>
          <p:nvPr/>
        </p:nvGraphicFramePr>
        <p:xfrm>
          <a:off xmlns:a="http://schemas.openxmlformats.org/drawingml/2006/main" x="443770" y="2809875"/>
          <a:ext xmlns:a="http://schemas.openxmlformats.org/drawingml/2006/main" cx="10154793" cy="3276600"/>
        </p:xfrm>
        <a:graphic xmlns:a="http://schemas.openxmlformats.org/drawingml/2006/main">
          <a:graphicData uri="http://schemas.openxmlformats.org/drawingml/2006/table">
            <a:tbl>
              <a:tblPr firstRow="1" firstCol="0" lastRow="0" lastCol="0" bandRow="1" bandCol="0">
                <a:tableStyleId>{2579BFC9-DFF7-CB57-E077-6E20FEF20DDB}</a:tableStyleId>
              </a:tblPr>
              <a:tblGrid>
                <a:gridCol w="1428750"/>
                <a:gridCol w="3667125"/>
                <a:gridCol w="5058918"/>
              </a:tblGrid>
              <a:tr h="36195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Дата / время</a:t>
                      </a:r>
                      <a:endParaRPr sz="1200">
                        <a:latin typeface="Mont Bold"/>
                        <a:ea typeface="Mont Bold"/>
                        <a:cs typeface="Mont Bold"/>
                      </a:endParaRPr>
                    </a:p>
                  </a:txBody>
                  <a:tcPr marL="91440" marR="91440" marT="45720" marB="45720" anchor="ctr">
                    <a:lnL w="12700">
                      <a:solidFill>
                        <a:srgbClr val="1C4289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rgbClr val="1C4289"/>
                      </a:solidFill>
                    </a:lnT>
                    <a:lnB w="12700">
                      <a:solidFill>
                        <a:srgbClr val="1C4289"/>
                      </a:solidFill>
                    </a:lnB>
                    <a:solidFill>
                      <a:srgbClr val="1D438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l">
                        <a:buNone/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Мероприятие</a:t>
                      </a:r>
                      <a:endParaRPr sz="1200">
                        <a:latin typeface="Mont Bold"/>
                        <a:ea typeface="Mont Bold"/>
                        <a:cs typeface="Mont Bold"/>
                      </a:endParaRPr>
                    </a:p>
                  </a:txBody>
                  <a:tcPr marL="91440" marR="91440" marT="45720" marB="45720"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rgbClr val="1C4289"/>
                      </a:solidFill>
                    </a:lnT>
                    <a:lnB w="12700">
                      <a:solidFill>
                        <a:srgbClr val="1C4289"/>
                      </a:solidFill>
                    </a:lnB>
                    <a:solidFill>
                      <a:srgbClr val="1D438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l">
                        <a:buNone/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Подробная информация</a:t>
                      </a:r>
                      <a:endParaRPr sz="1200">
                        <a:latin typeface="Mont Bold"/>
                        <a:ea typeface="Mont Bold"/>
                        <a:cs typeface="Mont Bold"/>
                      </a:endParaRPr>
                    </a:p>
                  </a:txBody>
                  <a:tcPr marL="91440" marR="91440" marT="45720" marB="45720"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rgbClr val="1C4289"/>
                      </a:solidFill>
                    </a:lnR>
                    <a:lnT w="12700">
                      <a:solidFill>
                        <a:srgbClr val="1C4289"/>
                      </a:solidFill>
                    </a:lnT>
                    <a:lnB w="12700">
                      <a:solidFill>
                        <a:srgbClr val="1C4289"/>
                      </a:solidFill>
                    </a:lnB>
                    <a:solidFill>
                      <a:srgbClr val="1D4389"/>
                    </a:solidFill>
                  </a:tcPr>
                </a:tc>
              </a:tr>
              <a:tr h="6096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1140" b="0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ПН | 12.10</a:t>
                      </a:r>
                      <a:endParaRPr sz="1100" b="0" i="0" u="none" strike="noStrike" cap="none" spc="0">
                        <a:solidFill>
                          <a:srgbClr val="1D4389"/>
                        </a:solidFill>
                        <a:latin typeface="Mont Regular"/>
                        <a:ea typeface="Mont Regular"/>
                        <a:cs typeface="Mont Regular"/>
                      </a:endParaRPr>
                    </a:p>
                    <a:p>
                      <a:pPr algn="ctr">
                        <a:buNone/>
                      </a:pPr>
                      <a:r>
                        <a:rPr sz="1140" b="0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15:00</a:t>
                      </a:r>
                      <a:endParaRPr sz="1100" b="0" i="0" u="none" strike="noStrike" cap="none" spc="0">
                        <a:solidFill>
                          <a:srgbClr val="1D4389"/>
                        </a:solidFill>
                        <a:latin typeface="Mont Regular"/>
                        <a:ea typeface="Mont Regular"/>
                        <a:cs typeface="Mont Regular"/>
                      </a:endParaRPr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700">
                      <a:solidFill>
                        <a:srgbClr val="1C4289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l">
                        <a:buNone/>
                      </a:pPr>
                      <a:r>
                        <a:rPr sz="1140" b="1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Встреча участников поездки</a:t>
                      </a:r>
                      <a:endParaRPr sz="1100" b="1" i="0" u="none" strike="noStrike" cap="none" spc="0">
                        <a:solidFill>
                          <a:srgbClr val="1D4389"/>
                        </a:solidFill>
                        <a:latin typeface="Mont Regular"/>
                        <a:ea typeface="Mont Regular"/>
                        <a:cs typeface="Mont Regular"/>
                      </a:endParaRPr>
                    </a:p>
                    <a:p>
                      <a:pPr algn="l">
                        <a:buNone/>
                      </a:pPr>
                      <a:r>
                        <a:rPr sz="1140" b="1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в Санкт-Петербург</a:t>
                      </a:r>
                      <a:endParaRPr sz="2000">
                        <a:latin typeface="Mont Regular"/>
                        <a:ea typeface="Mont Regular"/>
                        <a:cs typeface="Mont Regular"/>
                      </a:endParaRPr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700">
                      <a:solidFill>
                        <a:srgbClr val="1C4289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marL="0" marR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40" b="0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Атриум. Программа поездки, подготовка и организационные вопросы.</a:t>
                      </a:r>
                      <a:endParaRPr/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700">
                      <a:solidFill>
                        <a:srgbClr val="1C4289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04850">
                <a:tc>
                  <a:txBody>
                    <a:bodyPr lIns="76200" tIns="76200" rIns="76200" bIns="76200"/>
                    <a:lstStyle/>
                    <a:p>
                      <a:pPr marL="0" marR="0" lvl="0" indent="0" algn="ctr" defTabSz="1079998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40" b="0" i="0" u="none" strike="noStrike" cap="none" spc="0">
                          <a:ln>
                            <a:noFill/>
                          </a:ln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ВТ | 13.10</a:t>
                      </a:r>
                      <a:endParaRPr/>
                    </a:p>
                    <a:p>
                      <a:pPr marL="0" marR="0" lvl="0" indent="0" algn="ctr" defTabSz="1079998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40" b="0" i="0" u="none" strike="noStrike" cap="none" spc="0">
                          <a:ln>
                            <a:noFill/>
                          </a:ln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15:40–17:10</a:t>
                      </a:r>
                      <a:endParaRPr/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l">
                        <a:buNone/>
                      </a:pPr>
                      <a:r>
                        <a:rPr sz="1140" b="1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Школьный этап ВсОШ</a:t>
                      </a:r>
                      <a:endParaRPr sz="1100">
                        <a:latin typeface="Mont Regular"/>
                        <a:ea typeface="Mont Regular"/>
                        <a:cs typeface="Mont Regular"/>
                      </a:endParaRPr>
                    </a:p>
                    <a:p>
                      <a:pPr algn="l">
                        <a:buNone/>
                      </a:pPr>
                      <a:r>
                        <a:rPr sz="1140" b="1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по математике</a:t>
                      </a:r>
                      <a:endParaRPr sz="1100">
                        <a:latin typeface="Mont Regular"/>
                        <a:ea typeface="Mont Regular"/>
                        <a:cs typeface="Mont Regular"/>
                      </a:endParaRPr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marL="0" marR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40" b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Кабинеты 329 и 331. Взять личный ноутбук. Резервные ноутбуки подготовит школа.</a:t>
                      </a:r>
                      <a:endParaRPr sz="1100" b="1" i="0" u="none" strike="noStrike" cap="none" spc="0">
                        <a:solidFill>
                          <a:srgbClr val="1D4389"/>
                        </a:solidFill>
                        <a:latin typeface="Mont Regular"/>
                        <a:ea typeface="Mont Regular"/>
                        <a:cs typeface="Mont Regular"/>
                      </a:endParaRPr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476250">
                <a:tc>
                  <a:txBody>
                    <a:bodyPr lIns="76200" tIns="76200" rIns="76200" bIns="76200"/>
                    <a:lstStyle/>
                    <a:p>
                      <a:pPr marL="0" marR="0" lvl="0" indent="0" algn="ctr" defTabSz="1079998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40" b="0" i="0" u="none" strike="noStrike" cap="none" spc="0">
                          <a:ln>
                            <a:noFill/>
                          </a:ln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СР | 14.10</a:t>
                      </a:r>
                      <a:endParaRPr/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l">
                        <a:buNone/>
                      </a:pPr>
                      <a:r>
                        <a:rPr sz="1140" b="1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Конкурс сочинений</a:t>
                      </a:r>
                      <a:endParaRPr sz="1100" b="1" i="0" u="none" strike="noStrike" cap="none" spc="0">
                        <a:solidFill>
                          <a:srgbClr val="1D4389"/>
                        </a:solidFill>
                        <a:latin typeface="Mont Regular"/>
                        <a:ea typeface="Mont Regular"/>
                        <a:cs typeface="Mont Regular"/>
                      </a:endParaRPr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marL="0" marR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40" b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Срок подачи работ «Осенняя пора! Очей очарованье!».</a:t>
                      </a:r>
                      <a:endParaRPr/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47700">
                <a:tc>
                  <a:txBody>
                    <a:bodyPr lIns="76200" tIns="76200" rIns="76200" bIns="76200"/>
                    <a:lstStyle/>
                    <a:p>
                      <a:pPr marL="0" marR="0" lvl="0" indent="0" algn="ctr" defTabSz="1079998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40" b="0" i="0" u="none" strike="noStrike" cap="none" spc="0">
                          <a:ln>
                            <a:noFill/>
                          </a:ln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ЧТ | 15.10</a:t>
                      </a:r>
                      <a:endParaRPr/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l">
                        <a:buNone/>
                      </a:pPr>
                      <a:r>
                        <a:rPr sz="1140" b="1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День словесности</a:t>
                      </a:r>
                      <a:endParaRPr sz="1100">
                        <a:latin typeface="Mont Regular"/>
                        <a:ea typeface="Mont Regular"/>
                        <a:cs typeface="Mont Regular"/>
                      </a:endParaRPr>
                    </a:p>
                    <a:p>
                      <a:pPr algn="l">
                        <a:buNone/>
                      </a:pPr>
                      <a:r>
                        <a:rPr sz="1140" b="1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Регистрация на «Квантландию»</a:t>
                      </a:r>
                      <a:endParaRPr sz="1100">
                        <a:latin typeface="Mont Regular"/>
                        <a:ea typeface="Mont Regular"/>
                        <a:cs typeface="Mont Regular"/>
                      </a:endParaRPr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marL="0" marR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40" b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Принести стихотворения и иллюстрации. Зарегистрироваться на турнир до 15 октября.</a:t>
                      </a:r>
                      <a:endParaRPr sz="1100" b="1" i="0" u="none" strike="noStrike" cap="none" spc="0">
                        <a:solidFill>
                          <a:srgbClr val="1D4389"/>
                        </a:solidFill>
                        <a:latin typeface="Mont Regular"/>
                        <a:ea typeface="Mont Regular"/>
                        <a:cs typeface="Mont Regular"/>
                      </a:endParaRPr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476250">
                <a:tc>
                  <a:txBody>
                    <a:bodyPr lIns="76200" tIns="76200" rIns="76200" bIns="76200"/>
                    <a:lstStyle/>
                    <a:p>
                      <a:pPr marL="0" marR="0" lvl="0" indent="0" algn="ctr" defTabSz="1079998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40" b="0" i="0" u="none" strike="noStrike" cap="none" spc="0">
                          <a:ln>
                            <a:noFill/>
                          </a:ln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ПТ | 16.10</a:t>
                      </a:r>
                      <a:endParaRPr/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l">
                        <a:buNone/>
                      </a:pPr>
                      <a:r>
                        <a:rPr sz="1140" b="1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ВсОШ по китайскому языку</a:t>
                      </a:r>
                      <a:endParaRPr sz="1100" b="1" i="0" u="none" strike="noStrike" cap="none" spc="0">
                        <a:solidFill>
                          <a:srgbClr val="1D4389"/>
                        </a:solidFill>
                        <a:latin typeface="Mont Regular"/>
                        <a:ea typeface="Mont Regular"/>
                        <a:cs typeface="Mont Regular"/>
                      </a:endParaRPr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marL="0" marR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40" b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16–18 октября. Теоретические туры проходят в МЭШ.</a:t>
                      </a:r>
                      <a:endParaRPr/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09446456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927B0C2B-7353-4FD4-9452-A80D5F8D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706" y="359378"/>
            <a:ext cx="4191000" cy="108832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marL="0" indent="0" algn="l" defTabSz="457200">
              <a:buNone/>
              <a:defRPr sz="2200" b="1">
                <a:solidFill>
                  <a:schemeClr val="tx1">
                    <a:tint val="82000"/>
                  </a:schemeClr>
                </a:solidFill>
                <a:latin typeface="+mj-lt"/>
                <a:ea typeface="+mj-lt"/>
                <a:cs typeface="+mj-lt"/>
              </a:defRPr>
            </a:lvl1pPr>
            <a:lvl2pPr marL="457205" indent="0" algn="l" defTabSz="457200">
              <a:buNone/>
              <a:defRPr sz="2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914400" algn="l" defTabSz="457200">
              <a:buNone/>
              <a:defRPr sz="18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1371600" algn="l" defTabSz="457200">
              <a:buNone/>
              <a:defRPr sz="18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1828800" algn="l" defTabSz="457200">
              <a:buNone/>
              <a:defRPr sz="18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2286000" algn="l" defTabSz="45720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45720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45720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45720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sz="3400" b="1">
                <a:solidFill>
                  <a:srgbClr val="FF8717"/>
                </a:solidFill>
                <a:latin typeface="Mont Bold"/>
                <a:ea typeface="Mont Bold"/>
                <a:cs typeface="Mont Bold"/>
              </a:rPr>
              <a:t>5 Сахалин</a:t>
            </a:r>
          </a:p>
          <a:p xmlns:a="http://schemas.openxmlformats.org/drawingml/2006/main">
            <a:r>
              <a:rPr sz="1800" b="1">
                <a:solidFill>
                  <a:srgbClr val="FFFFFF"/>
                </a:solidFill>
                <a:latin typeface="Mont Bold"/>
                <a:ea typeface="Mont Bold"/>
                <a:cs typeface="Mont Bold"/>
              </a:rPr>
              <a:t>12.10.2026 – 18.10.2026</a:t>
            </a:r>
          </a:p>
        </p:txBody>
      </p:sp>
      <p:sp>
        <p:nvSpPr>
          <p:cNvPr id="6" name="TextBox 13">
            <a:extLst xmlns:a="http://schemas.openxmlformats.org/drawingml/2006/main">
              <a:ext uri="{FF2B5EF4-FFF2-40B4-BE49-F238E27FC236}">
                <a16:creationId xmlns:a16="http://schemas.microsoft.com/office/drawing/2014/main" id="{7F080252-36E6-497F-B02D-ACA65AA8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981" y="16120015"/>
            <a:ext cx="409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D4389"/>
                </a:solidFill>
                <a:latin typeface="Mont Bold"/>
                <a:ea typeface="Mont Bold"/>
                <a:cs typeface="Mont Bold"/>
              </a:rPr>
              <a:t>«Мы — одна команда!»</a:t>
            </a:r>
          </a:p>
          <a:p xmlns:a="http://schemas.openxmlformats.org/drawingml/2006/main">
            <a:r>
              <a:rPr sz="2000" b="1">
                <a:solidFill>
                  <a:srgbClr val="FF8717"/>
                </a:solidFill>
                <a:latin typeface="Mont Bold"/>
                <a:ea typeface="Mont Bold"/>
                <a:cs typeface="Mont Bold"/>
              </a:rPr>
              <a:t>Из фотоальбома класса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8A585D2-C9A6-40DA-BD82-A1FC1CBB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601825"/>
            <a:ext cx="157162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>
            <a:defPPr>
              <a:defRPr sz="1200" u="sng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defPPr>
          </a:lstStyle>
          <a:p xmlns:a="http://schemas.openxmlformats.org/drawingml/2006/main">
            <a:pPr algn="ctr">
              <a:buNone/>
              <a:defRPr sz="1200" u="sng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200" u="sng">
                <a:solidFill>
                  <a:srgbClr val="1C4289"/>
                </a:solidFill>
                <a:latin typeface="Mont Regular"/>
                <a:ea typeface="Mont Regular"/>
                <a:cs typeface="Mont Regular"/>
                <a:hlinkClick xmlns:r="http://schemas.openxmlformats.org/officeDocument/2006/relationships" r:id="R48bc5ed42d784ba5"/>
              </a:rPr>
              <a:t>Полезные ссылки</a:t>
            </a:r>
            <a:endParaRPr sz="1400" u="sng">
              <a:solidFill>
                <a:srgbClr val="1C4289"/>
              </a:solidFill>
            </a:endParaRPr>
          </a:p>
        </p:txBody>
      </p:sp>
      <p:pic>
        <p:nvPicPr>
          <p:cNvPr id="1365352136" name="">
            <a:extLst xmlns:a="http://schemas.openxmlformats.org/drawingml/2006/main">
              <a:ext uri="{FF2B5EF4-FFF2-40B4-BE49-F238E27FC236}">
                <a16:creationId xmlns:a16="http://schemas.microsoft.com/office/drawing/2014/main" id="{261E50BC-00B0-424E-B1A2-8560DDDCDC76}"/>
              </a:ext>
            </a:extLst>
          </p:cNvPr>
          <p:cNvPicPr>
            <a:picLocks xmlns:a="http://schemas.openxmlformats.org/drawingml/2006/main" noChangeAspect="1"/>
          </p:cNvPicPr>
          <p:nvPr>
            <p:ph type="pic" idx="11"/>
          </p:nvPr>
        </p:nvPicPr>
        <p:blipFill>
          <a:blip xmlns:r="http://schemas.openxmlformats.org/officeDocument/2006/relationships" xmlns:a="http://schemas.openxmlformats.org/drawingml/2006/main" r:embed="R8529966345f34616"/>
          <a:stretch xmlns:a="http://schemas.openxmlformats.org/drawingml/2006/main"/>
        </p:blipFill>
        <p:spPr>
          <a:xfrm xmlns:a="http://schemas.openxmlformats.org/drawingml/2006/main" rot="0">
            <a:off x="4476612" y="15364270"/>
            <a:ext cx="2819491" cy="1879661"/>
          </a:xfrm>
          <a:prstGeom xmlns:a="http://schemas.openxmlformats.org/drawingml/2006/main" prst="rect">
            <a:avLst/>
          </a:prstGeom>
        </p:spPr>
      </p:pic>
      <p:pic>
        <p:nvPicPr>
          <p:cNvPr id="1551524424" name="">
            <a:extLst xmlns:a="http://schemas.openxmlformats.org/drawingml/2006/main">
              <a:ext uri="{FF2B5EF4-FFF2-40B4-BE49-F238E27FC236}">
                <a16:creationId xmlns:a16="http://schemas.microsoft.com/office/drawing/2014/main" id="{83BB56AB-14C7-466E-8318-E4014950A8AC}"/>
              </a:ext>
            </a:extLst>
          </p:cNvPr>
          <p:cNvPicPr>
            <a:picLocks xmlns:a="http://schemas.openxmlformats.org/drawingml/2006/main" noChangeAspect="1"/>
          </p:cNvPicPr>
          <p:nvPr>
            <p:ph type="pic" idx="12"/>
          </p:nvPr>
        </p:nvPicPr>
        <p:blipFill>
          <a:blip xmlns:r="http://schemas.openxmlformats.org/officeDocument/2006/relationships" xmlns:a="http://schemas.openxmlformats.org/drawingml/2006/main" r:embed="Rece0d713958c449c"/>
          <a:stretch xmlns:a="http://schemas.openxmlformats.org/drawingml/2006/main"/>
        </p:blipFill>
        <p:spPr>
          <a:xfrm xmlns:a="http://schemas.openxmlformats.org/drawingml/2006/main" rot="0">
            <a:off x="7578811" y="15364271"/>
            <a:ext cx="2799309" cy="1866021"/>
          </a:xfrm>
          <a:prstGeom xmlns:a="http://schemas.openxmlformats.org/drawingml/2006/main" prst="rect">
            <a:avLst/>
          </a:prstGeom>
        </p:spPr>
      </p:pic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CE23B84-212B-4352-A94A-75121109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5275" y="7162800"/>
            <a:ext cx="5219700" cy="4924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defPPr>
          </a:lstStyle>
          <a:p xmlns:a="http://schemas.openxmlformats.org/drawingml/2006/main">
            <a:pPr marL="228600" indent="-114300">
              <a:lnSpc>
                <a:spcPct val="113000"/>
              </a:lnSpc>
              <a:spcAft>
                <a:spcPts val="700"/>
              </a:spcAft>
              <a:buNone/>
              <a:def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3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Фестиваль талантов продолжается. 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Приглашаем учеников поддержать участников и выбрать выступления, которые хочется посетить. </a:t>
            </a:r>
            <a:r>
              <a:rPr sz="1300" u="sng">
                <a:solidFill>
                  <a:srgbClr val="1C4289"/>
                </a:solidFill>
                <a:latin typeface="Mont Regular"/>
                <a:ea typeface="Mont Regular"/>
                <a:cs typeface="Mont Regular"/>
                <a:hlinkClick xmlns:r="http://schemas.openxmlformats.org/officeDocument/2006/relationships" r:id="R86f2d1291bc04592"/>
              </a:rPr>
              <a:t>Расписание выступлений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.</a:t>
            </a:r>
          </a:p>
          <a:p xmlns:a="http://schemas.openxmlformats.org/drawingml/2006/main">
            <a:pPr marL="228600" indent="-114300">
              <a:lnSpc>
                <a:spcPct val="113000"/>
              </a:lnSpc>
              <a:spcAft>
                <a:spcPts val="700"/>
              </a:spcAft>
              <a:buNone/>
              <a:def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3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Готовимся ко Дню книги 23 октября. 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До 20 октября учителя английского языка принимают книги на английском языке для буккроссинга и фотографии для Extreme Reading Challenge. </a:t>
            </a:r>
            <a:r>
              <a:rPr sz="1300" u="sng">
                <a:solidFill>
                  <a:srgbClr val="1C4289"/>
                </a:solidFill>
                <a:latin typeface="Mont Regular"/>
                <a:ea typeface="Mont Regular"/>
                <a:cs typeface="Mont Regular"/>
                <a:hlinkClick xmlns:r="http://schemas.openxmlformats.org/officeDocument/2006/relationships" r:id="Re9e4ea2ad9824f4f"/>
              </a:rPr>
              <a:t>Подробности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.</a:t>
            </a:r>
          </a:p>
          <a:p xmlns:a="http://schemas.openxmlformats.org/drawingml/2006/main">
            <a:pPr marL="228600" indent="-114300">
              <a:lnSpc>
                <a:spcPct val="113000"/>
              </a:lnSpc>
              <a:spcAft>
                <a:spcPts val="700"/>
              </a:spcAft>
              <a:buNone/>
              <a:def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3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Школьный этап ВсОШ. 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Ближайшие предметы: 12–15 октября — математика, 14–16 октября — право, 16–18 октября — китайский язык. Теоретические туры проходят в Московской электронной школе. </a:t>
            </a:r>
            <a:r>
              <a:rPr sz="1300" u="sng">
                <a:solidFill>
                  <a:srgbClr val="1C4289"/>
                </a:solidFill>
                <a:latin typeface="Mont Regular"/>
                <a:ea typeface="Mont Regular"/>
                <a:cs typeface="Mont Regular"/>
                <a:hlinkClick xmlns:r="http://schemas.openxmlformats.org/officeDocument/2006/relationships" r:id="Rd59f10cf8fc84c11"/>
              </a:rPr>
              <a:t>График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, </a:t>
            </a:r>
            <a:r>
              <a:rPr sz="1300" u="sng">
                <a:solidFill>
                  <a:srgbClr val="1C4289"/>
                </a:solidFill>
                <a:latin typeface="Mont Regular"/>
                <a:ea typeface="Mont Regular"/>
                <a:cs typeface="Mont Regular"/>
                <a:hlinkClick xmlns:r="http://schemas.openxmlformats.org/officeDocument/2006/relationships" r:id="R80a9e855531841c1"/>
              </a:rPr>
              <a:t>информационное письмо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, </a:t>
            </a:r>
            <a:r>
              <a:rPr sz="1300" u="sng">
                <a:solidFill>
                  <a:srgbClr val="1C4289"/>
                </a:solidFill>
                <a:latin typeface="Mont Regular"/>
                <a:ea typeface="Mont Regular"/>
                <a:cs typeface="Mont Regular"/>
                <a:hlinkClick xmlns:r="http://schemas.openxmlformats.org/officeDocument/2006/relationships" r:id="R8ef33815466b4ffe"/>
              </a:rPr>
              <a:t>страница ШЭ ВсОШ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, </a:t>
            </a:r>
            <a:r>
              <a:rPr sz="1300" u="sng">
                <a:solidFill>
                  <a:srgbClr val="1C4289"/>
                </a:solidFill>
                <a:latin typeface="Mont Regular"/>
                <a:ea typeface="Mont Regular"/>
                <a:cs typeface="Mont Regular"/>
                <a:hlinkClick xmlns:r="http://schemas.openxmlformats.org/officeDocument/2006/relationships" r:id="R4c26a220c35d46db"/>
              </a:rPr>
              <a:t>инструкция по участию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.</a:t>
            </a:r>
          </a:p>
          <a:p xmlns:a="http://schemas.openxmlformats.org/drawingml/2006/main">
            <a:pPr marL="228600" indent="-114300">
              <a:lnSpc>
                <a:spcPct val="113000"/>
              </a:lnSpc>
              <a:spcAft>
                <a:spcPts val="700"/>
              </a:spcAft>
              <a:buNone/>
              <a:def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3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Внеакадемическое и дополнительное образование. 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Занятия начались 1 октября. Следующая возможность перезаписаться откроется после 15 декабря. Счета за курсы размещены в ЕЛК. Просим своевременно внести оплату, чтобы сохранить место за ребёнком. По вопросам оплаты и курсов: @ext.junior.</a:t>
            </a:r>
          </a:p>
          <a:p xmlns:a="http://schemas.openxmlformats.org/drawingml/2006/main">
            <a:pPr marL="228600" indent="-114300">
              <a:lnSpc>
                <a:spcPct val="113000"/>
              </a:lnSpc>
              <a:spcAft>
                <a:spcPts val="700"/>
              </a:spcAft>
              <a:buNone/>
              <a:def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3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У нас так принято. 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После занятия оставляем кабинет в чистоте и порядке, готовым к следующему уроку. Бережно относимся к общему учебному пространству.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B5A41B-44C9-465D-868D-67B9F4A2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886450" y="7162800"/>
            <a:ext cx="4768501" cy="51374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defPPr>
          </a:lstStyle>
          <a:p xmlns:a="http://schemas.openxmlformats.org/drawingml/2006/main">
            <a:pPr marL="228600" indent="-114300">
              <a:lnSpc>
                <a:spcPct val="112000"/>
              </a:lnSpc>
              <a:spcAft>
                <a:spcPts val="700"/>
              </a:spcAft>
              <a:buNone/>
              <a:defRPr sz="14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4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День словесности «Пушкин. Осень. Слово». </a:t>
            </a:r>
            <a:r>
              <a:rPr sz="14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Ученики и родители могут принести стихотворения собственного сочинения для выставки «Болдинское вдохновение» </a:t>
            </a:r>
            <a:r>
              <a:rPr sz="14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до 15 октября</a:t>
            </a:r>
            <a:r>
              <a:rPr sz="14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.</a:t>
            </a:r>
          </a:p>
          <a:p xmlns:a="http://schemas.openxmlformats.org/drawingml/2006/main">
            <a:pPr marL="228600" indent="-114300">
              <a:lnSpc>
                <a:spcPct val="112000"/>
              </a:lnSpc>
              <a:spcAft>
                <a:spcPts val="700"/>
              </a:spcAft>
              <a:buNone/>
              <a:defRPr sz="14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4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Ученикам предлагается подготовить иллюстрацию к стихотворению А. С. Пушкина для выставки-конкурса «Осень в творчестве Пушкина» </a:t>
            </a:r>
            <a:r>
              <a:rPr sz="14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до 15 октября</a:t>
            </a:r>
            <a:r>
              <a:rPr sz="14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. В нижнем правом углу разместите наклейку со строками из стихотворения.</a:t>
            </a:r>
          </a:p>
          <a:p xmlns:a="http://schemas.openxmlformats.org/drawingml/2006/main">
            <a:pPr marL="228600" indent="-114300">
              <a:lnSpc>
                <a:spcPct val="112000"/>
              </a:lnSpc>
              <a:spcAft>
                <a:spcPts val="700"/>
              </a:spcAft>
              <a:buNone/>
              <a:defRPr sz="14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4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Срок подачи работ на конкурс сочинений «Осенняя пора! Очей очарованье!» — </a:t>
            </a:r>
            <a:r>
              <a:rPr sz="14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14 октября</a:t>
            </a:r>
            <a:r>
              <a:rPr sz="14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. </a:t>
            </a:r>
            <a:r>
              <a:rPr sz="1400" u="sng">
                <a:solidFill>
                  <a:srgbClr val="1C4289"/>
                </a:solidFill>
                <a:latin typeface="Mont Regular"/>
                <a:ea typeface="Mont Regular"/>
                <a:cs typeface="Mont Regular"/>
                <a:hlinkClick xmlns:r="http://schemas.openxmlformats.org/officeDocument/2006/relationships" r:id="R10cf411c83d0499d"/>
              </a:rPr>
              <a:t>Подробности ко Дню словесности</a:t>
            </a:r>
            <a:r>
              <a:rPr sz="14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.</a:t>
            </a:r>
          </a:p>
          <a:p xmlns:a="http://schemas.openxmlformats.org/drawingml/2006/main">
            <a:pPr marL="228600" indent="-114300">
              <a:lnSpc>
                <a:spcPct val="112000"/>
              </a:lnSpc>
              <a:spcAft>
                <a:spcPts val="700"/>
              </a:spcAft>
              <a:buNone/>
              <a:defRPr sz="14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4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«Квантландия» — 24 октября. </a:t>
            </a:r>
            <a:r>
              <a:rPr sz="14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Приглашаем заинтересованных ребят принять участие в очном городском математическом турнире. Для формирования команд и знакомства с форматом нужно </a:t>
            </a:r>
            <a:r>
              <a:rPr sz="1400" u="sng">
                <a:solidFill>
                  <a:srgbClr val="1C4289"/>
                </a:solidFill>
                <a:latin typeface="Mont Regular"/>
                <a:ea typeface="Mont Regular"/>
                <a:cs typeface="Mont Regular"/>
                <a:hlinkClick xmlns:r="http://schemas.openxmlformats.org/officeDocument/2006/relationships" r:id="R361e225a4e924226"/>
              </a:rPr>
              <a:t>зарегистрироваться до 15 октября</a:t>
            </a:r>
            <a:r>
              <a:rPr sz="14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. Это первый день каникул: перед регистрацией убедитесь, что ребёнок будет в Москве и сможет участвовать. Ориентировочное время турнира: 14:00–18:00.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2F0DCEA-9C33-47CB-9951-ADF9FB70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22" y="1940918"/>
            <a:ext cx="3024335" cy="64918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717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solidFill>
                  <a:schemeClr val="bg1"/>
                </a:solidFill>
                <a:latin typeface="Mont Bold"/>
                <a:ea typeface="Mont Bold"/>
                <a:cs typeface="Mont Bold"/>
              </a:rPr>
              <a:t>События недели</a:t>
            </a:r>
            <a:endParaRPr sz="2400">
              <a:solidFill>
                <a:schemeClr val="bg1"/>
              </a:solidFill>
              <a:latin typeface="Mont Regular"/>
              <a:ea typeface="Mont Regular"/>
              <a:cs typeface="Mont Regular"/>
            </a:endParaRPr>
          </a:p>
        </p:txBody>
      </p:sp>
      <p:sp>
        <p:nvSpPr>
          <p:cNvPr id="5" name="TextBox 3">
            <a:extLst xmlns:a="http://schemas.openxmlformats.org/drawingml/2006/main">
              <a:ext uri="{FF2B5EF4-FFF2-40B4-BE49-F238E27FC236}">
                <a16:creationId xmlns:a16="http://schemas.microsoft.com/office/drawing/2014/main" id="{FAF2621C-F974-42D4-A306-E9D8DFBA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770" y="6362700"/>
            <a:ext cx="1728216" cy="646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C4289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solidFill>
                  <a:schemeClr val="bg1"/>
                </a:solidFill>
                <a:latin typeface="Mont Bold"/>
                <a:ea typeface="Mont Bold"/>
                <a:cs typeface="Mont Bold"/>
              </a:rPr>
              <a:t>Новости</a:t>
            </a:r>
            <a:endParaRPr sz="2400">
              <a:solidFill>
                <a:schemeClr val="bg1"/>
              </a:solidFill>
              <a:latin typeface="Mont Regular"/>
              <a:ea typeface="Mont Regular"/>
              <a:cs typeface="Mont Regular"/>
            </a:endParaRPr>
          </a:p>
        </p:txBody>
      </p:sp>
      <p:sp>
        <p:nvSpPr>
          <p:cNvPr id="8" name="TextBox 3">
            <a:extLst xmlns:a="http://schemas.openxmlformats.org/drawingml/2006/main">
              <a:ext uri="{FF2B5EF4-FFF2-40B4-BE49-F238E27FC236}">
                <a16:creationId xmlns:a16="http://schemas.microsoft.com/office/drawing/2014/main" id="{505EE5E9-F480-4B73-B9BC-77CDDBACF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5985" y="6362700"/>
            <a:ext cx="1728216" cy="646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C4289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solidFill>
                  <a:schemeClr val="bg1"/>
                </a:solidFill>
                <a:latin typeface="Mont Bold"/>
                <a:ea typeface="Mont Bold"/>
                <a:cs typeface="Mont Bold"/>
              </a:rPr>
              <a:t>Важно!</a:t>
            </a:r>
            <a:endParaRPr sz="2400">
              <a:solidFill>
                <a:schemeClr val="bg1"/>
              </a:solidFill>
              <a:latin typeface="Mont Regular"/>
              <a:ea typeface="Mont Regular"/>
              <a:cs typeface="Mont Regular"/>
            </a:endParaRPr>
          </a:p>
        </p:txBody>
      </p:sp>
      <p:sp>
        <p:nvSpPr>
          <p:cNvPr id="9" name="TextBox 3">
            <a:extLst xmlns:a="http://schemas.openxmlformats.org/drawingml/2006/main">
              <a:ext uri="{FF2B5EF4-FFF2-40B4-BE49-F238E27FC236}">
                <a16:creationId xmlns:a16="http://schemas.microsoft.com/office/drawing/2014/main" id="{5C0E5750-6C1C-417B-AA37-26DCB175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25" y="15478088"/>
            <a:ext cx="2825838" cy="646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A52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solidFill>
                  <a:schemeClr val="bg1"/>
                </a:solidFill>
                <a:latin typeface="Mont Bold"/>
                <a:ea typeface="Mont Bold"/>
                <a:cs typeface="Mont Bold"/>
              </a:rPr>
              <a:t>Наш класс</a:t>
            </a:r>
            <a:endParaRPr sz="2400">
              <a:solidFill>
                <a:schemeClr val="bg1"/>
              </a:solidFill>
              <a:latin typeface="Mont Regular"/>
              <a:ea typeface="Mont Regular"/>
              <a:cs typeface="Mont Regular"/>
            </a:endParaRPr>
          </a:p>
        </p:txBody>
      </p:sp>
    </p:spTree>
    <p:extLst>
      <p:ext uri="{BB962C8B-B14F-4D97-AF65-F5344CB8AC3E}">
        <p14:creationId xmlns:p14="http://schemas.microsoft.com/office/powerpoint/2010/main" val="1188831865"/>
      </p:ext>
    </p:extLst>
  </p:cSld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Другая 1">
      <a:majorFont>
        <a:latin typeface="Mont Bold"/>
        <a:ea typeface="Arial"/>
        <a:cs typeface="Arial"/>
      </a:majorFont>
      <a:minorFont>
        <a:latin typeface="Mont Regular"/>
        <a:ea typeface="Arial"/>
        <a:cs typeface="Arial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2026-10-09T08:30:33.2160000Z</dcterms:created>
  <dcterms:modified xsi:type="dcterms:W3CDTF">2026-10-09T08:30:33.2160000Z</dcterms:modified>
</coreProperties>
</file>