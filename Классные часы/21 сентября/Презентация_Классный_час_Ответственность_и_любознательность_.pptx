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8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27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Занятие 40 минут, формат — дебаты, 5–6 классы.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1, 6 мин. Объяснить формат дебатов, роль наставника-судьи, назвать тему спора, провести первое голосование поднятием рук.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2, 4 мин. Класс делится не по личному мнению, а формально (по рядам/вариантам).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3, начало (9 мин). Показать формулу и оба примера, прежде чем команды начнут готовить свои аргументы.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Блоки 3–4 целиком. Опорная схема механики занятия для наставника.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4, 13 мин. Слайд-подсказка для наставника — реальная стена аргументов растёт на доске, а не на экране.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5, 8 мин. Сравнить результат с первым голосованием, обсудить, изменилось ли мнение класса.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Закрывающая мысль занятия — произнести после второго голосования и короткой рефлексии.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377440" cy="2377440"/>
          </a:xfrm>
          <a:prstGeom prst="triangle">
            <a:avLst/>
          </a:prstGeom>
          <a:solidFill>
            <a:srgbClr val="B8CDF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-822960"/>
            <a:ext cx="1463040" cy="1463040"/>
          </a:xfrm>
          <a:prstGeom prst="triangle">
            <a:avLst/>
          </a:prstGeom>
          <a:solidFill>
            <a:srgbClr val="FF7901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8CDF8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Классный час · 5–6 классы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10360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«Ответственность и любознательность: качества успешного ученика»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6177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40 минут  ·  Дебаты</a:t>
            </a:r>
            <a:endParaRPr lang="en-US" sz="2000" dirty="0"/>
          </a:p>
        </p:txBody>
      </p:sp>
      <p:pic>
        <p:nvPicPr>
          <p:cNvPr id="7" name="Image 0" descr="/mnt/skills/plugins/klassny-chas-stsenariy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551883"/>
            <a:ext cx="1307592" cy="1830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plugins/klassny-chas-stsenariy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32004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347472"/>
            <a:ext cx="0" cy="50292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143000" y="320040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28A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1. Что такое дебаты? Первое голосование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1D428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097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Дебаты — это спор по правилам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1D42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7373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Две стороны защищают разные точки зрения, ищут сильные аргументы и озвучивают их по очереди — а не перебивают друг друга. Побеждает не тот, кто громче, а тот, чьи аргументы убедительнее.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035040" y="1097280"/>
            <a:ext cx="5669280" cy="502920"/>
          </a:xfrm>
          <a:prstGeom prst="roundRect">
            <a:avLst>
              <a:gd name="adj" fmla="val 10909"/>
            </a:avLst>
          </a:prstGeom>
          <a:solidFill>
            <a:srgbClr val="FF790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72200" y="10972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Роли: команды и судья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035040" y="1600200"/>
            <a:ext cx="56692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FF79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73736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Команды спорят. Судья — наставник: не встаёт ни на одну сторону, а следит за правилами, временем и тем, чтобы в ход шли настоящие аргументы, а не «просто потому что».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006A5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3749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Первое голосование — до распределения по командам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57200" y="4251960"/>
            <a:ext cx="11247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6A5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38912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«Кто считает, что главное — способности?»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«Кто считает, что главное — старание и любопытство?»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Ответственность и любознательность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plugins/klassny-chas-stsenariy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32004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347472"/>
            <a:ext cx="0" cy="50292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143000" y="320040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28A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2. Деление на команды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1D428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371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За способности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539496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9050">
            <a:solidFill>
              <a:srgbClr val="1D42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01168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Главное — природный талант, а не старания.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Команда отстаивает эту позицию в дебатах — даже если лично кто-то из ребят голосовал иначе.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035040" y="1371600"/>
            <a:ext cx="5669280" cy="502920"/>
          </a:xfrm>
          <a:prstGeom prst="roundRect">
            <a:avLst>
              <a:gd name="adj" fmla="val 10909"/>
            </a:avLst>
          </a:prstGeom>
          <a:solidFill>
            <a:srgbClr val="FF790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72200" y="1371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За старание и любопытство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035040" y="1874520"/>
            <a:ext cx="56692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9050">
            <a:solidFill>
              <a:srgbClr val="FF790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2011680"/>
            <a:ext cx="5303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Главное — дисциплина и желание узнавать новое.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Это нормально для дебатов: учимся находить сильные аргументы, а не просто говорить то, во что уже верим.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Ответственность и любознательность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plugins/klassny-chas-stsenariy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32004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347472"/>
            <a:ext cx="0" cy="50292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143000" y="320040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28A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3. Формула хорошего аргумента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006A5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Я считаю, что …, потому что …, — например, …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06A5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828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Позиция → причина → конкретный пример из жизни. Мнение без примера — это не аргумент, а просто слова.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1D428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Пример: «За способности»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1D42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52044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«Я считаю, что способности важнее, потому что человеку с талантом не нужно долго тренироваться, чтобы у него получилось, — например, есть дети, которые с первого раза красиво рисуют».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035040" y="2880360"/>
            <a:ext cx="5669280" cy="502920"/>
          </a:xfrm>
          <a:prstGeom prst="roundRect">
            <a:avLst>
              <a:gd name="adj" fmla="val 10909"/>
            </a:avLst>
          </a:prstGeom>
          <a:solidFill>
            <a:srgbClr val="FF790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72200" y="2880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Пример: «Старание и любопытство»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035040" y="3383280"/>
            <a:ext cx="56692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FF790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352044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«Я считаю, что старание и любопытство важнее, потому что даже без таланта можно добиться результата через практику, — например, мой знакомый через год тренировок стал побеждать более способных соперников».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Ответственность и любознательность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plugins/klassny-chas-stsenariy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32004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347472"/>
            <a:ext cx="0" cy="50292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143000" y="320040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28A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Ход дебатов: 4 шага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1D42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85900" y="1645920"/>
            <a:ext cx="640080" cy="64008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4859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28A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Обсуждаем и распределяем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46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Команда вслух решает, кто о чём скажет — чтобы аргументы не повторялись.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FF790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6260" y="1645920"/>
            <a:ext cx="640080" cy="640080"/>
          </a:xfrm>
          <a:prstGeom prst="ellipse">
            <a:avLst/>
          </a:prstGeom>
          <a:solidFill>
            <a:srgbClr val="FF790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662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90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Каждый пишет свой листочек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3246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По формуле, лично — минимум один аргумент на человека. Можно добавить свой.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17920" y="137160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006A5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46620" y="1645920"/>
            <a:ext cx="640080" cy="640080"/>
          </a:xfrm>
          <a:prstGeom prst="ellipse">
            <a:avLst/>
          </a:prstGeom>
          <a:solidFill>
            <a:srgbClr val="006A5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466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A52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Проговариваем быстро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246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По очереди, без остановок — кроме по-настоящему спорных моментов.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098280" y="137160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E96D7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126980" y="1645920"/>
            <a:ext cx="640080" cy="640080"/>
          </a:xfrm>
          <a:prstGeom prst="ellipse">
            <a:avLst/>
          </a:prstGeom>
          <a:solidFill>
            <a:srgbClr val="E96D7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1269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6D7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Листочек — на доску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281160" y="32461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Листочек занимает своё место в столбике команды — на общей стене аргументов.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Ответственность и любознательность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plugins/klassny-chas-stsenariy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32004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347472"/>
            <a:ext cx="0" cy="50292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143000" y="320040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28A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4. Мини-дебаты — стена аргументов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1D428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28016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За способности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440680" cy="4023360"/>
          </a:xfrm>
          <a:prstGeom prst="roundRect">
            <a:avLst>
              <a:gd name="adj" fmla="val 1364"/>
            </a:avLst>
          </a:prstGeom>
          <a:solidFill>
            <a:srgbClr val="F1EFE8"/>
          </a:solidFill>
          <a:ln w="19050">
            <a:solidFill>
              <a:srgbClr val="1D428A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6263640" y="128016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FF790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128016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За старание и любопытство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440680" cy="4023360"/>
          </a:xfrm>
          <a:prstGeom prst="roundRect">
            <a:avLst>
              <a:gd name="adj" fmla="val 1364"/>
            </a:avLst>
          </a:prstGeom>
          <a:solidFill>
            <a:srgbClr val="F1EFE8"/>
          </a:solidFill>
          <a:ln w="19050">
            <a:solidFill>
              <a:srgbClr val="FF7901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40080" y="21031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Сюда крепятся сданные листочки — по одному за раз, во время дебатов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1031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Сюда крепятся сданные листочки — по одному за раз, во время дебатов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Ответственность и любознательность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plugins/klassny-chas-stsenariy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320040" cy="4480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347472"/>
            <a:ext cx="0" cy="50292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143000" y="320040"/>
            <a:ext cx="10588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428A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5. Общий вывод. Повторное голосование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96D7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188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Общий вывод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96D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828800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«Способности дают старт, а ответственность и любознательность — то, что двигает вперёд даже тогда, когда сразу не получается».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1089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1D428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108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Второе голосование — уже с третьим вариантом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112471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1D42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«Кто по-прежнему считает, что главное — способности?»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«Кто по-прежнему считает, что главное — старание и любопытство?»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44441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«А кто теперь думает, что однозначно сказать нельзя — важно и то, и другое?»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465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Ответственность и любознательность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42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377440" cy="2377440"/>
          </a:xfrm>
          <a:prstGeom prst="triangle">
            <a:avLst/>
          </a:prstGeom>
          <a:solidFill>
            <a:srgbClr val="B8CDF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-822960"/>
            <a:ext cx="1463040" cy="1463040"/>
          </a:xfrm>
          <a:prstGeom prst="triangle">
            <a:avLst/>
          </a:prstGeom>
          <a:solidFill>
            <a:srgbClr val="FF7901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0312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«Не обязательно быть самым способным — важно оставаться любопытным и ответственно относиться к своему делу»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8CDF8"/>
                </a:solidFill>
                <a:latin typeface="Mont" pitchFamily="34" charset="0"/>
                <a:ea typeface="Mont" pitchFamily="34" charset="-122"/>
                <a:cs typeface="Mont" pitchFamily="34" charset="-120"/>
              </a:rPr>
              <a:t>Спасибо за честный спор!</a:t>
            </a:r>
            <a:endParaRPr lang="en-US" sz="1800" dirty="0"/>
          </a:p>
        </p:txBody>
      </p:sp>
      <p:pic>
        <p:nvPicPr>
          <p:cNvPr id="6" name="Image 0" descr="/mnt/skills/plugins/klassny-chas-stsenariy/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5486400"/>
            <a:ext cx="640080" cy="896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plugins/klassny-chas-stsenariy/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728216"/>
            <a:ext cx="2468880" cy="3401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713</Words>
  <Application>Microsoft Office PowerPoint</Application>
  <PresentationFormat>Широкоэкранный</PresentationFormat>
  <Paragraphs>83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Mont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oform</cp:lastModifiedBy>
  <cp:revision>2</cp:revision>
  <dcterms:created xsi:type="dcterms:W3CDTF">2026-09-18T17:42:54Z</dcterms:created>
  <dcterms:modified xsi:type="dcterms:W3CDTF">2026-09-18T17:48:27Z</dcterms:modified>
</cp:coreProperties>
</file>